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Id="rId1" Type="http://schemas.openxmlformats.org/officeDocument/2006/relationships/officeDocument" Target="ppt/presentation.xml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screen16x9"/>
  <p:notesSz cx="6858000" cy="9144000"/>
</p:presentation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/Relationship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LexFlow 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tx1="dk1" tx2="dk2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142D2C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LEXFLOW AI / PILOT DEMONSTRATION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FFFFFF"/>
                </a:solidFill>
                <a:latin typeface="Arial"/>
              </a:rPr>
              <a:t>From documents to an approved handoff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C3D3D0"/>
                </a:solidFill>
                <a:latin typeface="Arial"/>
              </a:rPr>
              <a:t>Secure workflow automation for a dedicated notary office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The workflow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Receive documents. Extract structured values. Resolve uncertainty. Approve a frozen export. Confirm its receipt.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The demonstration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One office, synthetic property-purchase documents and an independent reference HTTP destination.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C3D3D0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01</a:t>
            </a:r>
            <a:endParaRPr lang="en-GB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01 / A CONTAINED FIRST USE CASE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Property purchase intake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Prove a complete, reviewable workflow before expanding integrations.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Inputs and output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Digital PDFs, scanned PDFs/images and saved email produce a structured property-purchase case and an approved XML, JSON or CSV handoff.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Scope boundary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A dedicated-office prototype has PostgreSQL concurrency, HTTP, scanner and restore evidence. Vendor acceptance, client hosting and office measurements remain.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02</a:t>
            </a:r>
            <a:endParaRPr lang="en-GB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02 / THE EMPLOYEE WORKFLOW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Seven visible stages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Every consequential decision stays visible to the office.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Receive &gt; Classify &gt; Extract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Keep incoming evidence with the case. Identify the workflow and propose values with their source locations.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Validate &gt; Review &gt; Export &gt; Audit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Flag conflict and missing information. Require human approval. Record the export and a separate verified receipt.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03</a:t>
            </a:r>
            <a:endParaRPr lang="en-GB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03 / THE FLAGSHIP EXAMPLE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disagreement the office must resolve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Synthetic purchase documents intentionally disagree on the land-register sheet.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Agreed case data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Buyer: Anna Schmidt</a:t>
            </a:r>
            <a:endParaRPr lang="en-GB" sz="1700"/>
          </a:p>
          <a:p>
            <a:r>
              <a:rPr lang="en-GB" sz="1700" b="0">
                <a:solidFill>
                  <a:srgbClr val="142D2C"/>
                </a:solidFill>
                <a:latin typeface="Arial"/>
              </a:rPr>
              <a:t>Seller: Peter Müller</a:t>
            </a:r>
            <a:endParaRPr lang="en-GB" sz="1700"/>
          </a:p>
          <a:p>
            <a:r>
              <a:rPr lang="en-GB" sz="1700" b="0">
                <a:solidFill>
                  <a:srgbClr val="142D2C"/>
                </a:solidFill>
                <a:latin typeface="Arial"/>
              </a:rPr>
              <a:t>Purchase price: EUR 850,000</a:t>
            </a:r>
            <a:endParaRPr lang="en-GB" sz="1700"/>
          </a:p>
          <a:p>
            <a:r>
              <a:rPr lang="en-GB" sz="1700" b="0">
                <a:solidFill>
                  <a:srgbClr val="142D2C"/>
                </a:solidFill>
                <a:latin typeface="Arial"/>
              </a:rPr>
              <a:t>Questionnaire and register: München Blatt 812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A meaningful exception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The draft contract states Blatt 872. The conflict blocks approval until a reviewer chooses or corrects the value. The price also needs explicit confirmation.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04</a:t>
            </a:r>
            <a:endParaRPr lang="en-GB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04 / HUMAN CONTROL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Review first. Freeze the decision.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Confidence supports review; it does not authorize a destination write.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The clerk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Compare sources, correct values and confirm required policy fields. Source selections update case data. Reusable labels and mappings are edited separately by an administrator.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The approver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Approve only after all blockers are resolved. The snapshot freezes values, mappings and approval identity. Stale edits cannot undo that approval.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05</a:t>
            </a:r>
            <a:endParaRPr lang="en-GB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05 / A TRUTHFUL HANDOFF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signed receipt proves the handoff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Actual HTTP transport to an independent reference destination; vendor acceptance remains separate.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Create the approved export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Generate a checksummed payload from the frozen approval. Export a file or send authenticated JSON. Repeated requests reuse the same approval-bound idempotency key.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Confirm the destination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The HTTP receiver commits the payload before returning a signed receipt. Wrong keys or receipts keep delivery pending. A lost-response retry retrieves the original receipt without a duplicate import.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06</a:t>
            </a:r>
            <a:endParaRPr lang="en-GB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06 / PROTECTION IN THE BUILD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Controls that can be demonstrated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Show the controls and their practical limits.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Confidentiality and approval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Per-office encryption covers source files, source text, structured case values, revisions and audit metadata. Production refuses development secrets. Review and approval share a locking protocol.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Traceability and retention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Audit events have a signed hash chain. Separately held checkpoints detect an older database replay. Encrypted backups restore sources, private fields, approvals and export evidence.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07</a:t>
            </a:r>
            <a:endParaRPr lang="en-GB" sz="1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07 / ONE OFFICE, ONE DEPLOYMENT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dedicated pilot boundary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Prepare separate database, storage and keys for each office.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Presentation environment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The launcher creates one office, a separate database, vault and keys. Local OCR reads scans; original-source review remains mandatory. A remote scanner/email client uses only the intake API.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Deployment package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Concurrency and complete encrypted restore passed on local PostgreSQL. A dedicated HTTPS stack is supplied. Its container build, client hosting, TLS and operational recovery still need validation.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08</a:t>
            </a:r>
            <a:endParaRPr lang="en-GB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08 / PILOT EVIDENCE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Measure results without mixing demo data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Demonstration history is clearly labelled and excluded from live-pilot measurements.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What to measure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The synthetic corpus passed 64 checks across 12 cases, including scans, missing values and conflicts. Office metrics cover corrections, review time, confirmed handoffs and audit completeness.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How to compare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Synthetic pass rates are regression evidence, not office accuracy. Record a manual baseline and a separate sanitized cohort. Measure handling time separately from elapsed approval time.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09</a:t>
            </a:r>
            <a:endParaRPr lang="en-GB" sz="1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09 / LIVE DEMONSTRATION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seven-minute walkthrough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Use /presentation/ as your presenter guide.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Minutes 1–4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Open the unprocessed intake. Process the documents. Show the Blatt 812 / 872 conflict. Resolve the source choice and confirm the price as the clerk.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Minutes 5–7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Sign in as the notary. Approve, create the HTTP export and send it. Show its verified receipt and audit trail. Optionally demonstrate scanned intake and mandatory source review.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10</a:t>
            </a:r>
            <a:endParaRPr lang="en-GB" sz="12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10 / WHAT IS NEXT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142D2C"/>
                </a:solidFill>
                <a:latin typeface="Arial"/>
              </a:rPr>
              <a:t>A precise client pilot agreement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5D6A67"/>
                </a:solidFill>
                <a:latin typeface="Arial"/>
              </a:rPr>
              <a:t>Keep the first real integration as narrow as the demonstrated workflow.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Decide with the office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Confirm the property-purchase schema, required approvals, dedicated hosting boundary, retention policy, representative sanitized documents and exact destination interface.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1E5250"/>
                </a:solidFill>
                <a:latin typeface="Arial"/>
              </a:rPr>
              <a:t>Validate before live use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142D2C"/>
                </a:solidFill>
                <a:latin typeface="Arial"/>
              </a:rPr>
              <a:t>Validate the actual vendor import and receipt, client deployment and restore procedures. Evaluate sanitized office samples against agreed limits. Native Office plugins and SSO remain roadmap items.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5D6A67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1E5250"/>
                </a:solidFill>
                <a:latin typeface="Arial"/>
              </a:rPr>
              <a:t>11</a:t>
            </a:r>
            <a:endParaRPr lang="en-GB" sz="1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>
          <a:srgbClr val="142D2C"/>
        </a:solidFill>
      </p:bgPr>
    </p:bg>
    <p:spTree>
      <p:nvGrpSpPr>
        <p:cNvPr id="1" name=""/>
        <p:cNvGrpSpPr/>
        <p:nvPr/>
      </p:nvGrpSpPr>
      <p:grpSpPr/>
      <p:sp>
        <p:nvSpPr>
          <p:cNvPr id="2" name="LexFlow 2"/>
          <p:cNvSpPr txBox="1"/>
          <p:nvPr/>
        </p:nvSpPr>
        <p:spPr>
          <a:xfrm>
            <a:off x="530352" y="4572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LEXFLOW AI / THE NEXT STEP</a:t>
            </a:r>
            <a:endParaRPr lang="en-GB" sz="1200"/>
          </a:p>
        </p:txBody>
      </p:sp>
      <p:sp>
        <p:nvSpPr>
          <p:cNvPr id="3" name="LexFlow 3"/>
          <p:cNvSpPr txBox="1"/>
          <p:nvPr/>
        </p:nvSpPr>
        <p:spPr>
          <a:xfrm>
            <a:off x="530352" y="1051560"/>
            <a:ext cx="11109960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3600" b="1">
                <a:solidFill>
                  <a:srgbClr val="FFFFFF"/>
                </a:solidFill>
                <a:latin typeface="Arial"/>
              </a:rPr>
              <a:t>Select one destination. Validate one workflow.</a:t>
            </a:r>
            <a:endParaRPr lang="en-GB" sz="3600"/>
          </a:p>
        </p:txBody>
      </p:sp>
      <p:sp>
        <p:nvSpPr>
          <p:cNvPr id="4" name="LexFlow 4"/>
          <p:cNvSpPr txBox="1"/>
          <p:nvPr/>
        </p:nvSpPr>
        <p:spPr>
          <a:xfrm>
            <a:off x="548640" y="2331720"/>
            <a:ext cx="1078992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900" b="0">
                <a:solidFill>
                  <a:srgbClr val="C3D3D0"/>
                </a:solidFill>
                <a:latin typeface="Arial"/>
              </a:rPr>
              <a:t>A controlled, demonstrable foundation for the first office pilot.</a:t>
            </a:r>
            <a:endParaRPr lang="en-GB" sz="1900"/>
          </a:p>
        </p:txBody>
      </p:sp>
      <p:sp>
        <p:nvSpPr>
          <p:cNvPr id="5" name="LexFlow 5"/>
          <p:cNvSpPr txBox="1"/>
          <p:nvPr/>
        </p:nvSpPr>
        <p:spPr>
          <a:xfrm>
            <a:off x="54864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6" name="LexFlow 6"/>
          <p:cNvSpPr txBox="1"/>
          <p:nvPr/>
        </p:nvSpPr>
        <p:spPr>
          <a:xfrm>
            <a:off x="76809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What you can present today</a:t>
            </a:r>
            <a:endParaRPr lang="en-GB" sz="2000"/>
          </a:p>
        </p:txBody>
      </p:sp>
      <p:sp>
        <p:nvSpPr>
          <p:cNvPr id="7" name="LexFlow 7"/>
          <p:cNvSpPr txBox="1"/>
          <p:nvPr/>
        </p:nvSpPr>
        <p:spPr>
          <a:xfrm>
            <a:off x="76809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A working case from PDF or scan to reviewed data, frozen approval, authenticated HTTP handoff and signed receipt, with PostgreSQL, recovery and extraction evidence.</a:t>
            </a:r>
            <a:endParaRPr lang="en-GB" sz="1700"/>
          </a:p>
        </p:txBody>
      </p:sp>
      <p:sp>
        <p:nvSpPr>
          <p:cNvPr id="8" name="LexFlow 8"/>
          <p:cNvSpPr txBox="1"/>
          <p:nvPr/>
        </p:nvSpPr>
        <p:spPr>
          <a:xfrm>
            <a:off x="6172200" y="3246120"/>
            <a:ext cx="5440680" cy="2468880"/>
          </a:xfrm>
          <a:prstGeom prst="rect">
            <a:avLst/>
          </a:prstGeom>
          <a:solidFill>
            <a:srgbClr val="1E5250"/>
          </a:solidFill>
          <a:ln>
            <a:noFill/>
          </a:ln>
        </p:spPr>
        <p:txBody>
          <a:bodyPr wrap="square" anchor="t" lIns="0" rIns="0" tIns="0" bIns="0"/>
          <a:lstStyle/>
          <a:p>
            <a:r>
              <a:rPr lang="en-GB" sz="1800" b="0">
                <a:solidFill>
                  <a:srgbClr val="142D2C"/>
                </a:solidFill>
                <a:latin typeface="Arial"/>
              </a:rPr>
              <a:t/>
            </a:r>
            <a:endParaRPr lang="en-GB" sz="1800"/>
          </a:p>
        </p:txBody>
      </p:sp>
      <p:sp>
        <p:nvSpPr>
          <p:cNvPr id="9" name="LexFlow 9"/>
          <p:cNvSpPr txBox="1"/>
          <p:nvPr/>
        </p:nvSpPr>
        <p:spPr>
          <a:xfrm>
            <a:off x="6391656" y="3493008"/>
            <a:ext cx="4965192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2000" b="1">
                <a:solidFill>
                  <a:srgbClr val="F4E4A1"/>
                </a:solidFill>
                <a:latin typeface="Arial"/>
              </a:rPr>
              <a:t>What the client supplies next</a:t>
            </a:r>
            <a:endParaRPr lang="en-GB" sz="2000"/>
          </a:p>
        </p:txBody>
      </p:sp>
      <p:sp>
        <p:nvSpPr>
          <p:cNvPr id="10" name="LexFlow 10"/>
          <p:cNvSpPr txBox="1"/>
          <p:nvPr/>
        </p:nvSpPr>
        <p:spPr>
          <a:xfrm>
            <a:off x="6391656" y="4023360"/>
            <a:ext cx="4965192" cy="14996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700" b="0">
                <a:solidFill>
                  <a:srgbClr val="FFFFFF"/>
                </a:solidFill>
                <a:latin typeface="Arial"/>
              </a:rPr>
              <a:t>A supported destination interface and test environment, sanitized examples, an accepted deployment boundary and agreed success criteria.</a:t>
            </a:r>
            <a:endParaRPr lang="en-GB" sz="1700"/>
          </a:p>
        </p:txBody>
      </p:sp>
      <p:sp>
        <p:nvSpPr>
          <p:cNvPr id="11" name="LexFlow 11"/>
          <p:cNvSpPr txBox="1"/>
          <p:nvPr/>
        </p:nvSpPr>
        <p:spPr>
          <a:xfrm>
            <a:off x="548640" y="641908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900" b="0">
                <a:solidFill>
                  <a:srgbClr val="C3D3D0"/>
                </a:solidFill>
                <a:latin typeface="Arial"/>
              </a:rPr>
              <a:t>ALLGIFT TECHNOLOGIES LTD  /  SYNTHETIC PRESENTATION DEMO  /  22 OCTOBER 2026</a:t>
            </a:r>
            <a:endParaRPr lang="en-GB" sz="900"/>
          </a:p>
        </p:txBody>
      </p:sp>
      <p:sp>
        <p:nvSpPr>
          <p:cNvPr id="12" name="LexFlow 12"/>
          <p:cNvSpPr txBox="1"/>
          <p:nvPr/>
        </p:nvSpPr>
        <p:spPr>
          <a:xfrm>
            <a:off x="11109960" y="6400800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r>
              <a:rPr lang="en-GB" sz="1200" b="1">
                <a:solidFill>
                  <a:srgbClr val="F4E4A1"/>
                </a:solidFill>
                <a:latin typeface="Arial"/>
              </a:rPr>
              <a:t>12</a:t>
            </a:r>
            <a:endParaRPr lang="en-GB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