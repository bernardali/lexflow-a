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theme/theme1.xml" ContentType="application/vnd.openxmlformats-officedocument.theme+xml"/>
</Types>
</file>

<file path=_rels/.rels><?xml version='1.0' encoding='utf-8'?>
<Relationships xmlns="http://schemas.openxmlformats.org/package/2006/relationships"><Relationship Id="rId1" Type="http://schemas.openxmlformats.org/officeDocument/2006/relationships/officeDocument" Target="ppt/presentation.xml" /></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 type="screen16x9"/>
  <p:notesSz cx="6858000" cy="9144000"/>
</p:presentation>
</file>

<file path=ppt/_rels/presentation.xml.rels><?xml version='1.0' encoding='utf-8'?>
<Relationships xmlns="http://schemas.openxmlformats.org/package/2006/relationships"><Relationship Id="rId1" Type="http://schemas.openxmlformats.org/officeDocument/2006/relationships/slideMaster" Target="slideMasters/slideMaster1.xml" /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/Relationships>
</file>

<file path=ppt/slideLayouts/_rels/slideLayout1.xml.rels><?xml version='1.0' encoding='utf-8'?>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slideLayout1.xml><?xml version="1.0" encoding="utf-8"?>
<p:sldLayout xmlns:a="http://schemas.openxmlformats.org/drawingml/2006/main" xmlns:p="http://schemas.openxmlformats.org/presentationml/2006/main" type="blank" preserve="1">
  <p:cSld name="LexFlow blank">
    <p:spTree>
      <p:nvGrpSpPr>
        <p:cNvPr id="1" name=""/>
        <p:cNvGrpSpPr/>
        <p:nvPr/>
      </p:nvGrpSpPr>
      <p:grpSpPr/>
    </p:spTree>
  </p:cSld>
  <p:clrMapOvr>
    <a:masterClrMapping/>
  </p:clrMapOvr>
</p:sldLayout>
</file>

<file path=ppt/slideMasters/_rels/slideMaster1.xml.rels><?xml version='1.0' encoding='utf-8'?>
<Relationships xmlns="http://schemas.openxmlformats.org/package/2006/relationships"><Relationship Id="rId1" Type="http://schemas.openxmlformats.org/officeDocument/2006/relationships/slideLayout" Target="../slideLayouts/slideLayout1.xml" /><Relationship Id="rId2" Type="http://schemas.openxmlformats.org/officeDocument/2006/relationships/theme" Target="../theme/theme1.xml" /></Relationships>
</file>

<file path=ppt/slideMasters/slideMaster1.xml><?xml version="1.0" encoding="utf-8"?>
<p:sldMaster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 accent1="accent1" accent2="accent2" accent3="accent3" accent4="accent4" accent5="accent5" accent6="accent6" bg1="lt1" bg2="lt2" tx1="dk1" tx2="dk2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'1.0' encoding='utf-8'?>
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'1.0' encoding='utf-8'?>
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3.xml.rels><?xml version='1.0' encoding='utf-8'?>
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4.xml.rels><?xml version='1.0' encoding='utf-8'?>
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5.xml.rels><?xml version='1.0' encoding='utf-8'?>
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6.xml.rels><?xml version='1.0' encoding='utf-8'?>
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7.xml.rels><?xml version='1.0' encoding='utf-8'?>
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8.xml.rels><?xml version='1.0' encoding='utf-8'?>
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9.xml.rels><?xml version='1.0' encoding='utf-8'?>
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10.xml.rels><?xml version='1.0' encoding='utf-8'?>
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11.xml.rels><?xml version='1.0' encoding='utf-8'?>
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12.xml.rels><?xml version='1.0' encoding='utf-8'?>
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p="http://schemas.openxmlformats.org/presentationml/2006/main">
  <p:cSld>
    <p:bg>
      <p:bgPr>
        <a:solidFill>
          <a:srgbClr val="142D2C"/>
        </a:solidFill>
      </p:bgPr>
    </p:bg>
    <p:spTree>
      <p:nvGrpSpPr>
        <p:cNvPr id="1" name=""/>
        <p:cNvGrpSpPr/>
        <p:nvPr/>
      </p:nvGrpSpPr>
      <p:grpSpPr/>
      <p:sp>
        <p:nvSpPr>
          <p:cNvPr id="2" name="LexFlow 2"/>
          <p:cNvSpPr txBox="1"/>
          <p:nvPr/>
        </p:nvSpPr>
        <p:spPr>
          <a:xfrm>
            <a:off x="530352" y="457200"/>
            <a:ext cx="10972800" cy="36576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r>
              <a:rPr lang="en-GB" sz="1200" b="1">
                <a:solidFill>
                  <a:srgbClr val="F4E4A1"/>
                </a:solidFill>
                <a:latin typeface="Arial"/>
              </a:rPr>
              <a:t>LEXFLOW AI / PILOT DEMONSTRATION</a:t>
            </a:r>
            <a:endParaRPr lang="en-GB" sz="1200"/>
          </a:p>
        </p:txBody>
      </p:sp>
      <p:sp>
        <p:nvSpPr>
          <p:cNvPr id="3" name="LexFlow 3"/>
          <p:cNvSpPr txBox="1"/>
          <p:nvPr/>
        </p:nvSpPr>
        <p:spPr>
          <a:xfrm>
            <a:off x="530352" y="1051560"/>
            <a:ext cx="11109960" cy="1143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r>
              <a:rPr lang="en-GB" sz="3600" b="1">
                <a:solidFill>
                  <a:srgbClr val="FFFFFF"/>
                </a:solidFill>
                <a:latin typeface="Arial"/>
              </a:rPr>
              <a:t>From documents to an approved handoff</a:t>
            </a:r>
            <a:endParaRPr lang="en-GB" sz="3600"/>
          </a:p>
        </p:txBody>
      </p:sp>
      <p:sp>
        <p:nvSpPr>
          <p:cNvPr id="4" name="LexFlow 4"/>
          <p:cNvSpPr txBox="1"/>
          <p:nvPr/>
        </p:nvSpPr>
        <p:spPr>
          <a:xfrm>
            <a:off x="548640" y="2331720"/>
            <a:ext cx="10789920" cy="59436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r>
              <a:rPr lang="en-GB" sz="1900" b="0">
                <a:solidFill>
                  <a:srgbClr val="C3D3D0"/>
                </a:solidFill>
                <a:latin typeface="Arial"/>
              </a:rPr>
              <a:t>Secure workflow automation for a dedicated notary office</a:t>
            </a:r>
            <a:endParaRPr lang="en-GB" sz="1900"/>
          </a:p>
        </p:txBody>
      </p:sp>
      <p:sp>
        <p:nvSpPr>
          <p:cNvPr id="5" name="LexFlow 5"/>
          <p:cNvSpPr txBox="1"/>
          <p:nvPr/>
        </p:nvSpPr>
        <p:spPr>
          <a:xfrm>
            <a:off x="548640" y="3246120"/>
            <a:ext cx="5440680" cy="2468880"/>
          </a:xfrm>
          <a:prstGeom prst="rect">
            <a:avLst/>
          </a:prstGeom>
          <a:solidFill>
            <a:srgbClr val="1E5250"/>
          </a:solidFill>
          <a:ln>
            <a:noFill/>
          </a:ln>
        </p:spPr>
        <p:txBody>
          <a:bodyPr wrap="square" anchor="t" lIns="0" rIns="0" tIns="0" bIns="0"/>
          <a:lstStyle/>
          <a:p>
            <a:r>
              <a:rPr lang="en-GB" sz="1800" b="0">
                <a:solidFill>
                  <a:srgbClr val="142D2C"/>
                </a:solidFill>
                <a:latin typeface="Arial"/>
              </a:rPr>
              <a:t/>
            </a:r>
            <a:endParaRPr lang="en-GB" sz="1800"/>
          </a:p>
        </p:txBody>
      </p:sp>
      <p:sp>
        <p:nvSpPr>
          <p:cNvPr id="6" name="LexFlow 6"/>
          <p:cNvSpPr txBox="1"/>
          <p:nvPr/>
        </p:nvSpPr>
        <p:spPr>
          <a:xfrm>
            <a:off x="768096" y="3493008"/>
            <a:ext cx="4965192" cy="4572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r>
              <a:rPr lang="en-GB" sz="2000" b="1">
                <a:solidFill>
                  <a:srgbClr val="F4E4A1"/>
                </a:solidFill>
                <a:latin typeface="Arial"/>
              </a:rPr>
              <a:t>The workflow</a:t>
            </a:r>
            <a:endParaRPr lang="en-GB" sz="2000"/>
          </a:p>
        </p:txBody>
      </p:sp>
      <p:sp>
        <p:nvSpPr>
          <p:cNvPr id="7" name="LexFlow 7"/>
          <p:cNvSpPr txBox="1"/>
          <p:nvPr/>
        </p:nvSpPr>
        <p:spPr>
          <a:xfrm>
            <a:off x="768096" y="4023360"/>
            <a:ext cx="4965192" cy="1499616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r>
              <a:rPr lang="en-GB" sz="1700" b="0">
                <a:solidFill>
                  <a:srgbClr val="FFFFFF"/>
                </a:solidFill>
                <a:latin typeface="Arial"/>
              </a:rPr>
              <a:t>Receive documents. Extract structured values. Resolve uncertainty. Approve a frozen export. Confirm its receipt.</a:t>
            </a:r>
            <a:endParaRPr lang="en-GB" sz="1700"/>
          </a:p>
        </p:txBody>
      </p:sp>
      <p:sp>
        <p:nvSpPr>
          <p:cNvPr id="8" name="LexFlow 8"/>
          <p:cNvSpPr txBox="1"/>
          <p:nvPr/>
        </p:nvSpPr>
        <p:spPr>
          <a:xfrm>
            <a:off x="6172200" y="3246120"/>
            <a:ext cx="5440680" cy="2468880"/>
          </a:xfrm>
          <a:prstGeom prst="rect">
            <a:avLst/>
          </a:prstGeom>
          <a:solidFill>
            <a:srgbClr val="1E5250"/>
          </a:solidFill>
          <a:ln>
            <a:noFill/>
          </a:ln>
        </p:spPr>
        <p:txBody>
          <a:bodyPr wrap="square" anchor="t" lIns="0" rIns="0" tIns="0" bIns="0"/>
          <a:lstStyle/>
          <a:p>
            <a:r>
              <a:rPr lang="en-GB" sz="1800" b="0">
                <a:solidFill>
                  <a:srgbClr val="142D2C"/>
                </a:solidFill>
                <a:latin typeface="Arial"/>
              </a:rPr>
              <a:t/>
            </a:r>
            <a:endParaRPr lang="en-GB" sz="1800"/>
          </a:p>
        </p:txBody>
      </p:sp>
      <p:sp>
        <p:nvSpPr>
          <p:cNvPr id="9" name="LexFlow 9"/>
          <p:cNvSpPr txBox="1"/>
          <p:nvPr/>
        </p:nvSpPr>
        <p:spPr>
          <a:xfrm>
            <a:off x="6391656" y="3493008"/>
            <a:ext cx="4965192" cy="4572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r>
              <a:rPr lang="en-GB" sz="2000" b="1">
                <a:solidFill>
                  <a:srgbClr val="F4E4A1"/>
                </a:solidFill>
                <a:latin typeface="Arial"/>
              </a:rPr>
              <a:t>The demonstration</a:t>
            </a:r>
            <a:endParaRPr lang="en-GB" sz="2000"/>
          </a:p>
        </p:txBody>
      </p:sp>
      <p:sp>
        <p:nvSpPr>
          <p:cNvPr id="10" name="LexFlow 10"/>
          <p:cNvSpPr txBox="1"/>
          <p:nvPr/>
        </p:nvSpPr>
        <p:spPr>
          <a:xfrm>
            <a:off x="6391656" y="4023360"/>
            <a:ext cx="4965192" cy="1499616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r>
              <a:rPr lang="en-GB" sz="1700" b="0">
                <a:solidFill>
                  <a:srgbClr val="FFFFFF"/>
                </a:solidFill>
                <a:latin typeface="Arial"/>
              </a:rPr>
              <a:t>One office, synthetic property-purchase documents and an independent reference HTTP destination.</a:t>
            </a:r>
            <a:endParaRPr lang="en-GB" sz="1700"/>
          </a:p>
        </p:txBody>
      </p:sp>
      <p:sp>
        <p:nvSpPr>
          <p:cNvPr id="11" name="LexFlow 11"/>
          <p:cNvSpPr txBox="1"/>
          <p:nvPr/>
        </p:nvSpPr>
        <p:spPr>
          <a:xfrm>
            <a:off x="548640" y="6419088"/>
            <a:ext cx="10789920" cy="219456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r>
              <a:rPr lang="en-GB" sz="900" b="0">
                <a:solidFill>
                  <a:srgbClr val="C3D3D0"/>
                </a:solidFill>
                <a:latin typeface="Arial"/>
              </a:rPr>
              <a:t>ALLGIFT TECHNOLOGIES LTD  /  SYNTHETIC PRESENTATION DEMO  /  23 OCTOBER 2026</a:t>
            </a:r>
            <a:endParaRPr lang="en-GB" sz="900"/>
          </a:p>
        </p:txBody>
      </p:sp>
      <p:sp>
        <p:nvSpPr>
          <p:cNvPr id="12" name="LexFlow 12"/>
          <p:cNvSpPr txBox="1"/>
          <p:nvPr/>
        </p:nvSpPr>
        <p:spPr>
          <a:xfrm>
            <a:off x="11109960" y="6400800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r>
              <a:rPr lang="en-GB" sz="1200" b="1">
                <a:solidFill>
                  <a:srgbClr val="F4E4A1"/>
                </a:solidFill>
                <a:latin typeface="Arial"/>
              </a:rPr>
              <a:t>01</a:t>
            </a:r>
            <a:endParaRPr lang="en-GB" sz="12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>
  <p:cSld>
    <p:bg>
      <p:bgPr>
        <a:solidFill>
          <a:srgbClr val="F3F5F1"/>
        </a:solidFill>
      </p:bgPr>
    </p:bg>
    <p:spTree>
      <p:nvGrpSpPr>
        <p:cNvPr id="1" name=""/>
        <p:cNvGrpSpPr/>
        <p:nvPr/>
      </p:nvGrpSpPr>
      <p:grpSpPr/>
      <p:sp>
        <p:nvSpPr>
          <p:cNvPr id="2" name="LexFlow 2"/>
          <p:cNvSpPr txBox="1"/>
          <p:nvPr/>
        </p:nvSpPr>
        <p:spPr>
          <a:xfrm>
            <a:off x="530352" y="457200"/>
            <a:ext cx="10972800" cy="36576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r>
              <a:rPr lang="en-GB" sz="1200" b="1">
                <a:solidFill>
                  <a:srgbClr val="1E5250"/>
                </a:solidFill>
                <a:latin typeface="Arial"/>
              </a:rPr>
              <a:t>01 / A CONTAINED FIRST USE CASE</a:t>
            </a:r>
            <a:endParaRPr lang="en-GB" sz="1200"/>
          </a:p>
        </p:txBody>
      </p:sp>
      <p:sp>
        <p:nvSpPr>
          <p:cNvPr id="3" name="LexFlow 3"/>
          <p:cNvSpPr txBox="1"/>
          <p:nvPr/>
        </p:nvSpPr>
        <p:spPr>
          <a:xfrm>
            <a:off x="530352" y="1051560"/>
            <a:ext cx="11109960" cy="1143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r>
              <a:rPr lang="en-GB" sz="3600" b="1">
                <a:solidFill>
                  <a:srgbClr val="142D2C"/>
                </a:solidFill>
                <a:latin typeface="Arial"/>
              </a:rPr>
              <a:t>Property purchase intake</a:t>
            </a:r>
            <a:endParaRPr lang="en-GB" sz="3600"/>
          </a:p>
        </p:txBody>
      </p:sp>
      <p:sp>
        <p:nvSpPr>
          <p:cNvPr id="4" name="LexFlow 4"/>
          <p:cNvSpPr txBox="1"/>
          <p:nvPr/>
        </p:nvSpPr>
        <p:spPr>
          <a:xfrm>
            <a:off x="548640" y="2331720"/>
            <a:ext cx="10789920" cy="59436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r>
              <a:rPr lang="en-GB" sz="1900" b="0">
                <a:solidFill>
                  <a:srgbClr val="5D6A67"/>
                </a:solidFill>
                <a:latin typeface="Arial"/>
              </a:rPr>
              <a:t>Prove a complete, reviewable workflow before expanding integrations.</a:t>
            </a:r>
            <a:endParaRPr lang="en-GB" sz="1900"/>
          </a:p>
        </p:txBody>
      </p:sp>
      <p:sp>
        <p:nvSpPr>
          <p:cNvPr id="5" name="LexFlow 5"/>
          <p:cNvSpPr txBox="1"/>
          <p:nvPr/>
        </p:nvSpPr>
        <p:spPr>
          <a:xfrm>
            <a:off x="548640" y="3246120"/>
            <a:ext cx="5440680" cy="2468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0" rIns="0" tIns="0" bIns="0"/>
          <a:lstStyle/>
          <a:p>
            <a:r>
              <a:rPr lang="en-GB" sz="1800" b="0">
                <a:solidFill>
                  <a:srgbClr val="142D2C"/>
                </a:solidFill>
                <a:latin typeface="Arial"/>
              </a:rPr>
              <a:t/>
            </a:r>
            <a:endParaRPr lang="en-GB" sz="1800"/>
          </a:p>
        </p:txBody>
      </p:sp>
      <p:sp>
        <p:nvSpPr>
          <p:cNvPr id="6" name="LexFlow 6"/>
          <p:cNvSpPr txBox="1"/>
          <p:nvPr/>
        </p:nvSpPr>
        <p:spPr>
          <a:xfrm>
            <a:off x="768096" y="3493008"/>
            <a:ext cx="4965192" cy="4572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r>
              <a:rPr lang="en-GB" sz="2000" b="1">
                <a:solidFill>
                  <a:srgbClr val="1E5250"/>
                </a:solidFill>
                <a:latin typeface="Arial"/>
              </a:rPr>
              <a:t>Inputs and output</a:t>
            </a:r>
            <a:endParaRPr lang="en-GB" sz="2000"/>
          </a:p>
        </p:txBody>
      </p:sp>
      <p:sp>
        <p:nvSpPr>
          <p:cNvPr id="7" name="LexFlow 7"/>
          <p:cNvSpPr txBox="1"/>
          <p:nvPr/>
        </p:nvSpPr>
        <p:spPr>
          <a:xfrm>
            <a:off x="768096" y="4023360"/>
            <a:ext cx="4965192" cy="1499616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r>
              <a:rPr lang="en-GB" sz="1700" b="0">
                <a:solidFill>
                  <a:srgbClr val="142D2C"/>
                </a:solidFill>
                <a:latin typeface="Arial"/>
              </a:rPr>
              <a:t>Digital PDFs, scanned PDFs/images and saved email produce a structured property-purchase case and an approved XML, JSON or CSV handoff.</a:t>
            </a:r>
            <a:endParaRPr lang="en-GB" sz="1700"/>
          </a:p>
        </p:txBody>
      </p:sp>
      <p:sp>
        <p:nvSpPr>
          <p:cNvPr id="8" name="LexFlow 8"/>
          <p:cNvSpPr txBox="1"/>
          <p:nvPr/>
        </p:nvSpPr>
        <p:spPr>
          <a:xfrm>
            <a:off x="6172200" y="3246120"/>
            <a:ext cx="5440680" cy="2468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0" rIns="0" tIns="0" bIns="0"/>
          <a:lstStyle/>
          <a:p>
            <a:r>
              <a:rPr lang="en-GB" sz="1800" b="0">
                <a:solidFill>
                  <a:srgbClr val="142D2C"/>
                </a:solidFill>
                <a:latin typeface="Arial"/>
              </a:rPr>
              <a:t/>
            </a:r>
            <a:endParaRPr lang="en-GB" sz="1800"/>
          </a:p>
        </p:txBody>
      </p:sp>
      <p:sp>
        <p:nvSpPr>
          <p:cNvPr id="9" name="LexFlow 9"/>
          <p:cNvSpPr txBox="1"/>
          <p:nvPr/>
        </p:nvSpPr>
        <p:spPr>
          <a:xfrm>
            <a:off x="6391656" y="3493008"/>
            <a:ext cx="4965192" cy="4572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r>
              <a:rPr lang="en-GB" sz="2000" b="1">
                <a:solidFill>
                  <a:srgbClr val="1E5250"/>
                </a:solidFill>
                <a:latin typeface="Arial"/>
              </a:rPr>
              <a:t>Scope boundary</a:t>
            </a:r>
            <a:endParaRPr lang="en-GB" sz="2000"/>
          </a:p>
        </p:txBody>
      </p:sp>
      <p:sp>
        <p:nvSpPr>
          <p:cNvPr id="10" name="LexFlow 10"/>
          <p:cNvSpPr txBox="1"/>
          <p:nvPr/>
        </p:nvSpPr>
        <p:spPr>
          <a:xfrm>
            <a:off x="6391656" y="4023360"/>
            <a:ext cx="4965192" cy="1499616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r>
              <a:rPr lang="en-GB" sz="1700" b="0">
                <a:solidFill>
                  <a:srgbClr val="142D2C"/>
                </a:solidFill>
                <a:latin typeface="Arial"/>
              </a:rPr>
              <a:t>A dedicated-office prototype has PostgreSQL concurrency, HTTP, scanner and restore evidence. Vendor acceptance, client hosting and office measurements remain.</a:t>
            </a:r>
            <a:endParaRPr lang="en-GB" sz="1700"/>
          </a:p>
        </p:txBody>
      </p:sp>
      <p:sp>
        <p:nvSpPr>
          <p:cNvPr id="11" name="LexFlow 11"/>
          <p:cNvSpPr txBox="1"/>
          <p:nvPr/>
        </p:nvSpPr>
        <p:spPr>
          <a:xfrm>
            <a:off x="548640" y="6419088"/>
            <a:ext cx="10789920" cy="219456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r>
              <a:rPr lang="en-GB" sz="900" b="0">
                <a:solidFill>
                  <a:srgbClr val="5D6A67"/>
                </a:solidFill>
                <a:latin typeface="Arial"/>
              </a:rPr>
              <a:t>ALLGIFT TECHNOLOGIES LTD  /  SYNTHETIC PRESENTATION DEMO  /  23 OCTOBER 2026</a:t>
            </a:r>
            <a:endParaRPr lang="en-GB" sz="900"/>
          </a:p>
        </p:txBody>
      </p:sp>
      <p:sp>
        <p:nvSpPr>
          <p:cNvPr id="12" name="LexFlow 12"/>
          <p:cNvSpPr txBox="1"/>
          <p:nvPr/>
        </p:nvSpPr>
        <p:spPr>
          <a:xfrm>
            <a:off x="11109960" y="6400800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r>
              <a:rPr lang="en-GB" sz="1200" b="1">
                <a:solidFill>
                  <a:srgbClr val="1E5250"/>
                </a:solidFill>
                <a:latin typeface="Arial"/>
              </a:rPr>
              <a:t>02</a:t>
            </a:r>
            <a:endParaRPr lang="en-GB" sz="12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>
  <p:cSld>
    <p:bg>
      <p:bgPr>
        <a:solidFill>
          <a:srgbClr val="F3F5F1"/>
        </a:solidFill>
      </p:bgPr>
    </p:bg>
    <p:spTree>
      <p:nvGrpSpPr>
        <p:cNvPr id="1" name=""/>
        <p:cNvGrpSpPr/>
        <p:nvPr/>
      </p:nvGrpSpPr>
      <p:grpSpPr/>
      <p:sp>
        <p:nvSpPr>
          <p:cNvPr id="2" name="LexFlow 2"/>
          <p:cNvSpPr txBox="1"/>
          <p:nvPr/>
        </p:nvSpPr>
        <p:spPr>
          <a:xfrm>
            <a:off x="530352" y="457200"/>
            <a:ext cx="10972800" cy="36576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r>
              <a:rPr lang="en-GB" sz="1200" b="1">
                <a:solidFill>
                  <a:srgbClr val="1E5250"/>
                </a:solidFill>
                <a:latin typeface="Arial"/>
              </a:rPr>
              <a:t>02 / THE EMPLOYEE WORKFLOW</a:t>
            </a:r>
            <a:endParaRPr lang="en-GB" sz="1200"/>
          </a:p>
        </p:txBody>
      </p:sp>
      <p:sp>
        <p:nvSpPr>
          <p:cNvPr id="3" name="LexFlow 3"/>
          <p:cNvSpPr txBox="1"/>
          <p:nvPr/>
        </p:nvSpPr>
        <p:spPr>
          <a:xfrm>
            <a:off x="530352" y="1051560"/>
            <a:ext cx="11109960" cy="1143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r>
              <a:rPr lang="en-GB" sz="3600" b="1">
                <a:solidFill>
                  <a:srgbClr val="142D2C"/>
                </a:solidFill>
                <a:latin typeface="Arial"/>
              </a:rPr>
              <a:t>Seven visible stages</a:t>
            </a:r>
            <a:endParaRPr lang="en-GB" sz="3600"/>
          </a:p>
        </p:txBody>
      </p:sp>
      <p:sp>
        <p:nvSpPr>
          <p:cNvPr id="4" name="LexFlow 4"/>
          <p:cNvSpPr txBox="1"/>
          <p:nvPr/>
        </p:nvSpPr>
        <p:spPr>
          <a:xfrm>
            <a:off x="548640" y="2331720"/>
            <a:ext cx="10789920" cy="59436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r>
              <a:rPr lang="en-GB" sz="1900" b="0">
                <a:solidFill>
                  <a:srgbClr val="5D6A67"/>
                </a:solidFill>
                <a:latin typeface="Arial"/>
              </a:rPr>
              <a:t>Every consequential decision stays visible to the office.</a:t>
            </a:r>
            <a:endParaRPr lang="en-GB" sz="1900"/>
          </a:p>
        </p:txBody>
      </p:sp>
      <p:sp>
        <p:nvSpPr>
          <p:cNvPr id="5" name="LexFlow 5"/>
          <p:cNvSpPr txBox="1"/>
          <p:nvPr/>
        </p:nvSpPr>
        <p:spPr>
          <a:xfrm>
            <a:off x="548640" y="3246120"/>
            <a:ext cx="5440680" cy="2468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0" rIns="0" tIns="0" bIns="0"/>
          <a:lstStyle/>
          <a:p>
            <a:r>
              <a:rPr lang="en-GB" sz="1800" b="0">
                <a:solidFill>
                  <a:srgbClr val="142D2C"/>
                </a:solidFill>
                <a:latin typeface="Arial"/>
              </a:rPr>
              <a:t/>
            </a:r>
            <a:endParaRPr lang="en-GB" sz="1800"/>
          </a:p>
        </p:txBody>
      </p:sp>
      <p:sp>
        <p:nvSpPr>
          <p:cNvPr id="6" name="LexFlow 6"/>
          <p:cNvSpPr txBox="1"/>
          <p:nvPr/>
        </p:nvSpPr>
        <p:spPr>
          <a:xfrm>
            <a:off x="768096" y="3493008"/>
            <a:ext cx="4965192" cy="4572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r>
              <a:rPr lang="en-GB" sz="2000" b="1">
                <a:solidFill>
                  <a:srgbClr val="1E5250"/>
                </a:solidFill>
                <a:latin typeface="Arial"/>
              </a:rPr>
              <a:t>Receive &gt; Classify &gt; Extract</a:t>
            </a:r>
            <a:endParaRPr lang="en-GB" sz="2000"/>
          </a:p>
        </p:txBody>
      </p:sp>
      <p:sp>
        <p:nvSpPr>
          <p:cNvPr id="7" name="LexFlow 7"/>
          <p:cNvSpPr txBox="1"/>
          <p:nvPr/>
        </p:nvSpPr>
        <p:spPr>
          <a:xfrm>
            <a:off x="768096" y="4023360"/>
            <a:ext cx="4965192" cy="1499616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r>
              <a:rPr lang="en-GB" sz="1700" b="0">
                <a:solidFill>
                  <a:srgbClr val="142D2C"/>
                </a:solidFill>
                <a:latin typeface="Arial"/>
              </a:rPr>
              <a:t>Keep incoming evidence with the case. Identify the workflow and propose values with their source locations.</a:t>
            </a:r>
            <a:endParaRPr lang="en-GB" sz="1700"/>
          </a:p>
        </p:txBody>
      </p:sp>
      <p:sp>
        <p:nvSpPr>
          <p:cNvPr id="8" name="LexFlow 8"/>
          <p:cNvSpPr txBox="1"/>
          <p:nvPr/>
        </p:nvSpPr>
        <p:spPr>
          <a:xfrm>
            <a:off x="6172200" y="3246120"/>
            <a:ext cx="5440680" cy="2468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0" rIns="0" tIns="0" bIns="0"/>
          <a:lstStyle/>
          <a:p>
            <a:r>
              <a:rPr lang="en-GB" sz="1800" b="0">
                <a:solidFill>
                  <a:srgbClr val="142D2C"/>
                </a:solidFill>
                <a:latin typeface="Arial"/>
              </a:rPr>
              <a:t/>
            </a:r>
            <a:endParaRPr lang="en-GB" sz="1800"/>
          </a:p>
        </p:txBody>
      </p:sp>
      <p:sp>
        <p:nvSpPr>
          <p:cNvPr id="9" name="LexFlow 9"/>
          <p:cNvSpPr txBox="1"/>
          <p:nvPr/>
        </p:nvSpPr>
        <p:spPr>
          <a:xfrm>
            <a:off x="6391656" y="3493008"/>
            <a:ext cx="4965192" cy="4572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r>
              <a:rPr lang="en-GB" sz="2000" b="1">
                <a:solidFill>
                  <a:srgbClr val="1E5250"/>
                </a:solidFill>
                <a:latin typeface="Arial"/>
              </a:rPr>
              <a:t>Validate &gt; Review &gt; Export &gt; Audit</a:t>
            </a:r>
            <a:endParaRPr lang="en-GB" sz="2000"/>
          </a:p>
        </p:txBody>
      </p:sp>
      <p:sp>
        <p:nvSpPr>
          <p:cNvPr id="10" name="LexFlow 10"/>
          <p:cNvSpPr txBox="1"/>
          <p:nvPr/>
        </p:nvSpPr>
        <p:spPr>
          <a:xfrm>
            <a:off x="6391656" y="4023360"/>
            <a:ext cx="4965192" cy="1499616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r>
              <a:rPr lang="en-GB" sz="1700" b="0">
                <a:solidFill>
                  <a:srgbClr val="142D2C"/>
                </a:solidFill>
                <a:latin typeface="Arial"/>
              </a:rPr>
              <a:t>Flag conflict and missing information. Require human approval. Record the export and a separate verified receipt.</a:t>
            </a:r>
            <a:endParaRPr lang="en-GB" sz="1700"/>
          </a:p>
        </p:txBody>
      </p:sp>
      <p:sp>
        <p:nvSpPr>
          <p:cNvPr id="11" name="LexFlow 11"/>
          <p:cNvSpPr txBox="1"/>
          <p:nvPr/>
        </p:nvSpPr>
        <p:spPr>
          <a:xfrm>
            <a:off x="548640" y="6419088"/>
            <a:ext cx="10789920" cy="219456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r>
              <a:rPr lang="en-GB" sz="900" b="0">
                <a:solidFill>
                  <a:srgbClr val="5D6A67"/>
                </a:solidFill>
                <a:latin typeface="Arial"/>
              </a:rPr>
              <a:t>ALLGIFT TECHNOLOGIES LTD  /  SYNTHETIC PRESENTATION DEMO  /  23 OCTOBER 2026</a:t>
            </a:r>
            <a:endParaRPr lang="en-GB" sz="900"/>
          </a:p>
        </p:txBody>
      </p:sp>
      <p:sp>
        <p:nvSpPr>
          <p:cNvPr id="12" name="LexFlow 12"/>
          <p:cNvSpPr txBox="1"/>
          <p:nvPr/>
        </p:nvSpPr>
        <p:spPr>
          <a:xfrm>
            <a:off x="11109960" y="6400800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r>
              <a:rPr lang="en-GB" sz="1200" b="1">
                <a:solidFill>
                  <a:srgbClr val="1E5250"/>
                </a:solidFill>
                <a:latin typeface="Arial"/>
              </a:rPr>
              <a:t>03</a:t>
            </a:r>
            <a:endParaRPr lang="en-GB" sz="12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>
  <p:cSld>
    <p:bg>
      <p:bgPr>
        <a:solidFill>
          <a:srgbClr val="F3F5F1"/>
        </a:solidFill>
      </p:bgPr>
    </p:bg>
    <p:spTree>
      <p:nvGrpSpPr>
        <p:cNvPr id="1" name=""/>
        <p:cNvGrpSpPr/>
        <p:nvPr/>
      </p:nvGrpSpPr>
      <p:grpSpPr/>
      <p:sp>
        <p:nvSpPr>
          <p:cNvPr id="2" name="LexFlow 2"/>
          <p:cNvSpPr txBox="1"/>
          <p:nvPr/>
        </p:nvSpPr>
        <p:spPr>
          <a:xfrm>
            <a:off x="530352" y="457200"/>
            <a:ext cx="10972800" cy="36576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r>
              <a:rPr lang="en-GB" sz="1200" b="1">
                <a:solidFill>
                  <a:srgbClr val="1E5250"/>
                </a:solidFill>
                <a:latin typeface="Arial"/>
              </a:rPr>
              <a:t>03 / THE FLAGSHIP EXAMPLE</a:t>
            </a:r>
            <a:endParaRPr lang="en-GB" sz="1200"/>
          </a:p>
        </p:txBody>
      </p:sp>
      <p:sp>
        <p:nvSpPr>
          <p:cNvPr id="3" name="LexFlow 3"/>
          <p:cNvSpPr txBox="1"/>
          <p:nvPr/>
        </p:nvSpPr>
        <p:spPr>
          <a:xfrm>
            <a:off x="530352" y="1051560"/>
            <a:ext cx="11109960" cy="1143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r>
              <a:rPr lang="en-GB" sz="3600" b="1">
                <a:solidFill>
                  <a:srgbClr val="142D2C"/>
                </a:solidFill>
                <a:latin typeface="Arial"/>
              </a:rPr>
              <a:t>A disagreement the office must resolve</a:t>
            </a:r>
            <a:endParaRPr lang="en-GB" sz="3600"/>
          </a:p>
        </p:txBody>
      </p:sp>
      <p:sp>
        <p:nvSpPr>
          <p:cNvPr id="4" name="LexFlow 4"/>
          <p:cNvSpPr txBox="1"/>
          <p:nvPr/>
        </p:nvSpPr>
        <p:spPr>
          <a:xfrm>
            <a:off x="548640" y="2331720"/>
            <a:ext cx="10789920" cy="59436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r>
              <a:rPr lang="en-GB" sz="1900" b="0">
                <a:solidFill>
                  <a:srgbClr val="5D6A67"/>
                </a:solidFill>
                <a:latin typeface="Arial"/>
              </a:rPr>
              <a:t>Synthetic purchase documents intentionally disagree on the land-register sheet.</a:t>
            </a:r>
            <a:endParaRPr lang="en-GB" sz="1900"/>
          </a:p>
        </p:txBody>
      </p:sp>
      <p:sp>
        <p:nvSpPr>
          <p:cNvPr id="5" name="LexFlow 5"/>
          <p:cNvSpPr txBox="1"/>
          <p:nvPr/>
        </p:nvSpPr>
        <p:spPr>
          <a:xfrm>
            <a:off x="548640" y="3246120"/>
            <a:ext cx="5440680" cy="2468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0" rIns="0" tIns="0" bIns="0"/>
          <a:lstStyle/>
          <a:p>
            <a:r>
              <a:rPr lang="en-GB" sz="1800" b="0">
                <a:solidFill>
                  <a:srgbClr val="142D2C"/>
                </a:solidFill>
                <a:latin typeface="Arial"/>
              </a:rPr>
              <a:t/>
            </a:r>
            <a:endParaRPr lang="en-GB" sz="1800"/>
          </a:p>
        </p:txBody>
      </p:sp>
      <p:sp>
        <p:nvSpPr>
          <p:cNvPr id="6" name="LexFlow 6"/>
          <p:cNvSpPr txBox="1"/>
          <p:nvPr/>
        </p:nvSpPr>
        <p:spPr>
          <a:xfrm>
            <a:off x="768096" y="3493008"/>
            <a:ext cx="4965192" cy="4572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r>
              <a:rPr lang="en-GB" sz="2000" b="1">
                <a:solidFill>
                  <a:srgbClr val="1E5250"/>
                </a:solidFill>
                <a:latin typeface="Arial"/>
              </a:rPr>
              <a:t>Agreed case data</a:t>
            </a:r>
            <a:endParaRPr lang="en-GB" sz="2000"/>
          </a:p>
        </p:txBody>
      </p:sp>
      <p:sp>
        <p:nvSpPr>
          <p:cNvPr id="7" name="LexFlow 7"/>
          <p:cNvSpPr txBox="1"/>
          <p:nvPr/>
        </p:nvSpPr>
        <p:spPr>
          <a:xfrm>
            <a:off x="768096" y="4023360"/>
            <a:ext cx="4965192" cy="1499616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r>
              <a:rPr lang="en-GB" sz="1700" b="0">
                <a:solidFill>
                  <a:srgbClr val="142D2C"/>
                </a:solidFill>
                <a:latin typeface="Arial"/>
              </a:rPr>
              <a:t>Buyer: Anna Schmidt</a:t>
            </a:r>
            <a:endParaRPr lang="en-GB" sz="1700"/>
          </a:p>
          <a:p>
            <a:r>
              <a:rPr lang="en-GB" sz="1700" b="0">
                <a:solidFill>
                  <a:srgbClr val="142D2C"/>
                </a:solidFill>
                <a:latin typeface="Arial"/>
              </a:rPr>
              <a:t>Seller: Peter Müller</a:t>
            </a:r>
            <a:endParaRPr lang="en-GB" sz="1700"/>
          </a:p>
          <a:p>
            <a:r>
              <a:rPr lang="en-GB" sz="1700" b="0">
                <a:solidFill>
                  <a:srgbClr val="142D2C"/>
                </a:solidFill>
                <a:latin typeface="Arial"/>
              </a:rPr>
              <a:t>Purchase price: EUR 850,000</a:t>
            </a:r>
            <a:endParaRPr lang="en-GB" sz="1700"/>
          </a:p>
          <a:p>
            <a:r>
              <a:rPr lang="en-GB" sz="1700" b="0">
                <a:solidFill>
                  <a:srgbClr val="142D2C"/>
                </a:solidFill>
                <a:latin typeface="Arial"/>
              </a:rPr>
              <a:t>Questionnaire and register: München Blatt 812</a:t>
            </a:r>
            <a:endParaRPr lang="en-GB" sz="1700"/>
          </a:p>
        </p:txBody>
      </p:sp>
      <p:sp>
        <p:nvSpPr>
          <p:cNvPr id="8" name="LexFlow 8"/>
          <p:cNvSpPr txBox="1"/>
          <p:nvPr/>
        </p:nvSpPr>
        <p:spPr>
          <a:xfrm>
            <a:off x="6172200" y="3246120"/>
            <a:ext cx="5440680" cy="2468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0" rIns="0" tIns="0" bIns="0"/>
          <a:lstStyle/>
          <a:p>
            <a:r>
              <a:rPr lang="en-GB" sz="1800" b="0">
                <a:solidFill>
                  <a:srgbClr val="142D2C"/>
                </a:solidFill>
                <a:latin typeface="Arial"/>
              </a:rPr>
              <a:t/>
            </a:r>
            <a:endParaRPr lang="en-GB" sz="1800"/>
          </a:p>
        </p:txBody>
      </p:sp>
      <p:sp>
        <p:nvSpPr>
          <p:cNvPr id="9" name="LexFlow 9"/>
          <p:cNvSpPr txBox="1"/>
          <p:nvPr/>
        </p:nvSpPr>
        <p:spPr>
          <a:xfrm>
            <a:off x="6391656" y="3493008"/>
            <a:ext cx="4965192" cy="4572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r>
              <a:rPr lang="en-GB" sz="2000" b="1">
                <a:solidFill>
                  <a:srgbClr val="1E5250"/>
                </a:solidFill>
                <a:latin typeface="Arial"/>
              </a:rPr>
              <a:t>A meaningful exception</a:t>
            </a:r>
            <a:endParaRPr lang="en-GB" sz="2000"/>
          </a:p>
        </p:txBody>
      </p:sp>
      <p:sp>
        <p:nvSpPr>
          <p:cNvPr id="10" name="LexFlow 10"/>
          <p:cNvSpPr txBox="1"/>
          <p:nvPr/>
        </p:nvSpPr>
        <p:spPr>
          <a:xfrm>
            <a:off x="6391656" y="4023360"/>
            <a:ext cx="4965192" cy="1499616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r>
              <a:rPr lang="en-GB" sz="1700" b="0">
                <a:solidFill>
                  <a:srgbClr val="142D2C"/>
                </a:solidFill>
                <a:latin typeface="Arial"/>
              </a:rPr>
              <a:t>The draft contract states Blatt 872. The conflict blocks approval until a reviewer chooses or corrects the value. The price also needs explicit confirmation.</a:t>
            </a:r>
            <a:endParaRPr lang="en-GB" sz="1700"/>
          </a:p>
        </p:txBody>
      </p:sp>
      <p:sp>
        <p:nvSpPr>
          <p:cNvPr id="11" name="LexFlow 11"/>
          <p:cNvSpPr txBox="1"/>
          <p:nvPr/>
        </p:nvSpPr>
        <p:spPr>
          <a:xfrm>
            <a:off x="548640" y="6419088"/>
            <a:ext cx="10789920" cy="219456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r>
              <a:rPr lang="en-GB" sz="900" b="0">
                <a:solidFill>
                  <a:srgbClr val="5D6A67"/>
                </a:solidFill>
                <a:latin typeface="Arial"/>
              </a:rPr>
              <a:t>ALLGIFT TECHNOLOGIES LTD  /  SYNTHETIC PRESENTATION DEMO  /  23 OCTOBER 2026</a:t>
            </a:r>
            <a:endParaRPr lang="en-GB" sz="900"/>
          </a:p>
        </p:txBody>
      </p:sp>
      <p:sp>
        <p:nvSpPr>
          <p:cNvPr id="12" name="LexFlow 12"/>
          <p:cNvSpPr txBox="1"/>
          <p:nvPr/>
        </p:nvSpPr>
        <p:spPr>
          <a:xfrm>
            <a:off x="11109960" y="6400800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r>
              <a:rPr lang="en-GB" sz="1200" b="1">
                <a:solidFill>
                  <a:srgbClr val="1E5250"/>
                </a:solidFill>
                <a:latin typeface="Arial"/>
              </a:rPr>
              <a:t>04</a:t>
            </a:r>
            <a:endParaRPr lang="en-GB" sz="12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>
  <p:cSld>
    <p:bg>
      <p:bgPr>
        <a:solidFill>
          <a:srgbClr val="F3F5F1"/>
        </a:solidFill>
      </p:bgPr>
    </p:bg>
    <p:spTree>
      <p:nvGrpSpPr>
        <p:cNvPr id="1" name=""/>
        <p:cNvGrpSpPr/>
        <p:nvPr/>
      </p:nvGrpSpPr>
      <p:grpSpPr/>
      <p:sp>
        <p:nvSpPr>
          <p:cNvPr id="2" name="LexFlow 2"/>
          <p:cNvSpPr txBox="1"/>
          <p:nvPr/>
        </p:nvSpPr>
        <p:spPr>
          <a:xfrm>
            <a:off x="530352" y="457200"/>
            <a:ext cx="10972800" cy="36576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r>
              <a:rPr lang="en-GB" sz="1200" b="1">
                <a:solidFill>
                  <a:srgbClr val="1E5250"/>
                </a:solidFill>
                <a:latin typeface="Arial"/>
              </a:rPr>
              <a:t>04 / HUMAN CONTROL</a:t>
            </a:r>
            <a:endParaRPr lang="en-GB" sz="1200"/>
          </a:p>
        </p:txBody>
      </p:sp>
      <p:sp>
        <p:nvSpPr>
          <p:cNvPr id="3" name="LexFlow 3"/>
          <p:cNvSpPr txBox="1"/>
          <p:nvPr/>
        </p:nvSpPr>
        <p:spPr>
          <a:xfrm>
            <a:off x="530352" y="1051560"/>
            <a:ext cx="11109960" cy="1143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r>
              <a:rPr lang="en-GB" sz="3600" b="1">
                <a:solidFill>
                  <a:srgbClr val="142D2C"/>
                </a:solidFill>
                <a:latin typeface="Arial"/>
              </a:rPr>
              <a:t>Review first. Freeze the decision.</a:t>
            </a:r>
            <a:endParaRPr lang="en-GB" sz="3600"/>
          </a:p>
        </p:txBody>
      </p:sp>
      <p:sp>
        <p:nvSpPr>
          <p:cNvPr id="4" name="LexFlow 4"/>
          <p:cNvSpPr txBox="1"/>
          <p:nvPr/>
        </p:nvSpPr>
        <p:spPr>
          <a:xfrm>
            <a:off x="548640" y="2331720"/>
            <a:ext cx="10789920" cy="59436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r>
              <a:rPr lang="en-GB" sz="1900" b="0">
                <a:solidFill>
                  <a:srgbClr val="5D6A67"/>
                </a:solidFill>
                <a:latin typeface="Arial"/>
              </a:rPr>
              <a:t>Confidence supports review; it does not authorize a destination write.</a:t>
            </a:r>
            <a:endParaRPr lang="en-GB" sz="1900"/>
          </a:p>
        </p:txBody>
      </p:sp>
      <p:sp>
        <p:nvSpPr>
          <p:cNvPr id="5" name="LexFlow 5"/>
          <p:cNvSpPr txBox="1"/>
          <p:nvPr/>
        </p:nvSpPr>
        <p:spPr>
          <a:xfrm>
            <a:off x="548640" y="3246120"/>
            <a:ext cx="5440680" cy="2468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0" rIns="0" tIns="0" bIns="0"/>
          <a:lstStyle/>
          <a:p>
            <a:r>
              <a:rPr lang="en-GB" sz="1800" b="0">
                <a:solidFill>
                  <a:srgbClr val="142D2C"/>
                </a:solidFill>
                <a:latin typeface="Arial"/>
              </a:rPr>
              <a:t/>
            </a:r>
            <a:endParaRPr lang="en-GB" sz="1800"/>
          </a:p>
        </p:txBody>
      </p:sp>
      <p:sp>
        <p:nvSpPr>
          <p:cNvPr id="6" name="LexFlow 6"/>
          <p:cNvSpPr txBox="1"/>
          <p:nvPr/>
        </p:nvSpPr>
        <p:spPr>
          <a:xfrm>
            <a:off x="768096" y="3493008"/>
            <a:ext cx="4965192" cy="4572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r>
              <a:rPr lang="en-GB" sz="2000" b="1">
                <a:solidFill>
                  <a:srgbClr val="1E5250"/>
                </a:solidFill>
                <a:latin typeface="Arial"/>
              </a:rPr>
              <a:t>The clerk</a:t>
            </a:r>
            <a:endParaRPr lang="en-GB" sz="2000"/>
          </a:p>
        </p:txBody>
      </p:sp>
      <p:sp>
        <p:nvSpPr>
          <p:cNvPr id="7" name="LexFlow 7"/>
          <p:cNvSpPr txBox="1"/>
          <p:nvPr/>
        </p:nvSpPr>
        <p:spPr>
          <a:xfrm>
            <a:off x="768096" y="4023360"/>
            <a:ext cx="4965192" cy="1499616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r>
              <a:rPr lang="en-GB" sz="1700" b="0">
                <a:solidFill>
                  <a:srgbClr val="142D2C"/>
                </a:solidFill>
                <a:latin typeface="Arial"/>
              </a:rPr>
              <a:t>Compare sources, correct values and confirm required policy fields. Source selections update case data. Reusable labels and mappings are edited separately by an administrator.</a:t>
            </a:r>
            <a:endParaRPr lang="en-GB" sz="1700"/>
          </a:p>
        </p:txBody>
      </p:sp>
      <p:sp>
        <p:nvSpPr>
          <p:cNvPr id="8" name="LexFlow 8"/>
          <p:cNvSpPr txBox="1"/>
          <p:nvPr/>
        </p:nvSpPr>
        <p:spPr>
          <a:xfrm>
            <a:off x="6172200" y="3246120"/>
            <a:ext cx="5440680" cy="2468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0" rIns="0" tIns="0" bIns="0"/>
          <a:lstStyle/>
          <a:p>
            <a:r>
              <a:rPr lang="en-GB" sz="1800" b="0">
                <a:solidFill>
                  <a:srgbClr val="142D2C"/>
                </a:solidFill>
                <a:latin typeface="Arial"/>
              </a:rPr>
              <a:t/>
            </a:r>
            <a:endParaRPr lang="en-GB" sz="1800"/>
          </a:p>
        </p:txBody>
      </p:sp>
      <p:sp>
        <p:nvSpPr>
          <p:cNvPr id="9" name="LexFlow 9"/>
          <p:cNvSpPr txBox="1"/>
          <p:nvPr/>
        </p:nvSpPr>
        <p:spPr>
          <a:xfrm>
            <a:off x="6391656" y="3493008"/>
            <a:ext cx="4965192" cy="4572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r>
              <a:rPr lang="en-GB" sz="2000" b="1">
                <a:solidFill>
                  <a:srgbClr val="1E5250"/>
                </a:solidFill>
                <a:latin typeface="Arial"/>
              </a:rPr>
              <a:t>The approver</a:t>
            </a:r>
            <a:endParaRPr lang="en-GB" sz="2000"/>
          </a:p>
        </p:txBody>
      </p:sp>
      <p:sp>
        <p:nvSpPr>
          <p:cNvPr id="10" name="LexFlow 10"/>
          <p:cNvSpPr txBox="1"/>
          <p:nvPr/>
        </p:nvSpPr>
        <p:spPr>
          <a:xfrm>
            <a:off x="6391656" y="4023360"/>
            <a:ext cx="4965192" cy="1499616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r>
              <a:rPr lang="en-GB" sz="1700" b="0">
                <a:solidFill>
                  <a:srgbClr val="142D2C"/>
                </a:solidFill>
                <a:latin typeface="Arial"/>
              </a:rPr>
              <a:t>Approve only after all blockers are resolved. The snapshot freezes values, mappings and approval identity. Stale edits cannot undo that approval.</a:t>
            </a:r>
            <a:endParaRPr lang="en-GB" sz="1700"/>
          </a:p>
        </p:txBody>
      </p:sp>
      <p:sp>
        <p:nvSpPr>
          <p:cNvPr id="11" name="LexFlow 11"/>
          <p:cNvSpPr txBox="1"/>
          <p:nvPr/>
        </p:nvSpPr>
        <p:spPr>
          <a:xfrm>
            <a:off x="548640" y="6419088"/>
            <a:ext cx="10789920" cy="219456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r>
              <a:rPr lang="en-GB" sz="900" b="0">
                <a:solidFill>
                  <a:srgbClr val="5D6A67"/>
                </a:solidFill>
                <a:latin typeface="Arial"/>
              </a:rPr>
              <a:t>ALLGIFT TECHNOLOGIES LTD  /  SYNTHETIC PRESENTATION DEMO  /  23 OCTOBER 2026</a:t>
            </a:r>
            <a:endParaRPr lang="en-GB" sz="900"/>
          </a:p>
        </p:txBody>
      </p:sp>
      <p:sp>
        <p:nvSpPr>
          <p:cNvPr id="12" name="LexFlow 12"/>
          <p:cNvSpPr txBox="1"/>
          <p:nvPr/>
        </p:nvSpPr>
        <p:spPr>
          <a:xfrm>
            <a:off x="11109960" y="6400800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r>
              <a:rPr lang="en-GB" sz="1200" b="1">
                <a:solidFill>
                  <a:srgbClr val="1E5250"/>
                </a:solidFill>
                <a:latin typeface="Arial"/>
              </a:rPr>
              <a:t>05</a:t>
            </a:r>
            <a:endParaRPr lang="en-GB" sz="12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>
  <p:cSld>
    <p:bg>
      <p:bgPr>
        <a:solidFill>
          <a:srgbClr val="F3F5F1"/>
        </a:solidFill>
      </p:bgPr>
    </p:bg>
    <p:spTree>
      <p:nvGrpSpPr>
        <p:cNvPr id="1" name=""/>
        <p:cNvGrpSpPr/>
        <p:nvPr/>
      </p:nvGrpSpPr>
      <p:grpSpPr/>
      <p:sp>
        <p:nvSpPr>
          <p:cNvPr id="2" name="LexFlow 2"/>
          <p:cNvSpPr txBox="1"/>
          <p:nvPr/>
        </p:nvSpPr>
        <p:spPr>
          <a:xfrm>
            <a:off x="530352" y="457200"/>
            <a:ext cx="10972800" cy="36576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r>
              <a:rPr lang="en-GB" sz="1200" b="1">
                <a:solidFill>
                  <a:srgbClr val="1E5250"/>
                </a:solidFill>
                <a:latin typeface="Arial"/>
              </a:rPr>
              <a:t>05 / A TRUTHFUL HANDOFF</a:t>
            </a:r>
            <a:endParaRPr lang="en-GB" sz="1200"/>
          </a:p>
        </p:txBody>
      </p:sp>
      <p:sp>
        <p:nvSpPr>
          <p:cNvPr id="3" name="LexFlow 3"/>
          <p:cNvSpPr txBox="1"/>
          <p:nvPr/>
        </p:nvSpPr>
        <p:spPr>
          <a:xfrm>
            <a:off x="530352" y="1051560"/>
            <a:ext cx="11109960" cy="1143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r>
              <a:rPr lang="en-GB" sz="3600" b="1">
                <a:solidFill>
                  <a:srgbClr val="142D2C"/>
                </a:solidFill>
                <a:latin typeface="Arial"/>
              </a:rPr>
              <a:t>A signed receipt proves the handoff</a:t>
            </a:r>
            <a:endParaRPr lang="en-GB" sz="3600"/>
          </a:p>
        </p:txBody>
      </p:sp>
      <p:sp>
        <p:nvSpPr>
          <p:cNvPr id="4" name="LexFlow 4"/>
          <p:cNvSpPr txBox="1"/>
          <p:nvPr/>
        </p:nvSpPr>
        <p:spPr>
          <a:xfrm>
            <a:off x="548640" y="2331720"/>
            <a:ext cx="10789920" cy="59436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r>
              <a:rPr lang="en-GB" sz="1900" b="0">
                <a:solidFill>
                  <a:srgbClr val="5D6A67"/>
                </a:solidFill>
                <a:latin typeface="Arial"/>
              </a:rPr>
              <a:t>Actual HTTP transport to an independent reference destination; vendor acceptance remains separate.</a:t>
            </a:r>
            <a:endParaRPr lang="en-GB" sz="1900"/>
          </a:p>
        </p:txBody>
      </p:sp>
      <p:sp>
        <p:nvSpPr>
          <p:cNvPr id="5" name="LexFlow 5"/>
          <p:cNvSpPr txBox="1"/>
          <p:nvPr/>
        </p:nvSpPr>
        <p:spPr>
          <a:xfrm>
            <a:off x="548640" y="3246120"/>
            <a:ext cx="5440680" cy="2468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0" rIns="0" tIns="0" bIns="0"/>
          <a:lstStyle/>
          <a:p>
            <a:r>
              <a:rPr lang="en-GB" sz="1800" b="0">
                <a:solidFill>
                  <a:srgbClr val="142D2C"/>
                </a:solidFill>
                <a:latin typeface="Arial"/>
              </a:rPr>
              <a:t/>
            </a:r>
            <a:endParaRPr lang="en-GB" sz="1800"/>
          </a:p>
        </p:txBody>
      </p:sp>
      <p:sp>
        <p:nvSpPr>
          <p:cNvPr id="6" name="LexFlow 6"/>
          <p:cNvSpPr txBox="1"/>
          <p:nvPr/>
        </p:nvSpPr>
        <p:spPr>
          <a:xfrm>
            <a:off x="768096" y="3493008"/>
            <a:ext cx="4965192" cy="4572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r>
              <a:rPr lang="en-GB" sz="2000" b="1">
                <a:solidFill>
                  <a:srgbClr val="1E5250"/>
                </a:solidFill>
                <a:latin typeface="Arial"/>
              </a:rPr>
              <a:t>Create the approved export</a:t>
            </a:r>
            <a:endParaRPr lang="en-GB" sz="2000"/>
          </a:p>
        </p:txBody>
      </p:sp>
      <p:sp>
        <p:nvSpPr>
          <p:cNvPr id="7" name="LexFlow 7"/>
          <p:cNvSpPr txBox="1"/>
          <p:nvPr/>
        </p:nvSpPr>
        <p:spPr>
          <a:xfrm>
            <a:off x="768096" y="4023360"/>
            <a:ext cx="4965192" cy="1499616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r>
              <a:rPr lang="en-GB" sz="1700" b="0">
                <a:solidFill>
                  <a:srgbClr val="142D2C"/>
                </a:solidFill>
                <a:latin typeface="Arial"/>
              </a:rPr>
              <a:t>Generate a checksummed payload from the frozen approval. Export a file or send authenticated JSON. Repeated requests reuse the same approval-bound idempotency key.</a:t>
            </a:r>
            <a:endParaRPr lang="en-GB" sz="1700"/>
          </a:p>
        </p:txBody>
      </p:sp>
      <p:sp>
        <p:nvSpPr>
          <p:cNvPr id="8" name="LexFlow 8"/>
          <p:cNvSpPr txBox="1"/>
          <p:nvPr/>
        </p:nvSpPr>
        <p:spPr>
          <a:xfrm>
            <a:off x="6172200" y="3246120"/>
            <a:ext cx="5440680" cy="2468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0" rIns="0" tIns="0" bIns="0"/>
          <a:lstStyle/>
          <a:p>
            <a:r>
              <a:rPr lang="en-GB" sz="1800" b="0">
                <a:solidFill>
                  <a:srgbClr val="142D2C"/>
                </a:solidFill>
                <a:latin typeface="Arial"/>
              </a:rPr>
              <a:t/>
            </a:r>
            <a:endParaRPr lang="en-GB" sz="1800"/>
          </a:p>
        </p:txBody>
      </p:sp>
      <p:sp>
        <p:nvSpPr>
          <p:cNvPr id="9" name="LexFlow 9"/>
          <p:cNvSpPr txBox="1"/>
          <p:nvPr/>
        </p:nvSpPr>
        <p:spPr>
          <a:xfrm>
            <a:off x="6391656" y="3493008"/>
            <a:ext cx="4965192" cy="4572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r>
              <a:rPr lang="en-GB" sz="2000" b="1">
                <a:solidFill>
                  <a:srgbClr val="1E5250"/>
                </a:solidFill>
                <a:latin typeface="Arial"/>
              </a:rPr>
              <a:t>Confirm the destination</a:t>
            </a:r>
            <a:endParaRPr lang="en-GB" sz="2000"/>
          </a:p>
        </p:txBody>
      </p:sp>
      <p:sp>
        <p:nvSpPr>
          <p:cNvPr id="10" name="LexFlow 10"/>
          <p:cNvSpPr txBox="1"/>
          <p:nvPr/>
        </p:nvSpPr>
        <p:spPr>
          <a:xfrm>
            <a:off x="6391656" y="4023360"/>
            <a:ext cx="4965192" cy="1499616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r>
              <a:rPr lang="en-GB" sz="1700" b="0">
                <a:solidFill>
                  <a:srgbClr val="142D2C"/>
                </a:solidFill>
                <a:latin typeface="Arial"/>
              </a:rPr>
              <a:t>The HTTP receiver commits the payload before returning a signed receipt. Wrong keys or receipts keep delivery pending. A lost-response retry retrieves the original receipt without a duplicate import.</a:t>
            </a:r>
            <a:endParaRPr lang="en-GB" sz="1700"/>
          </a:p>
        </p:txBody>
      </p:sp>
      <p:sp>
        <p:nvSpPr>
          <p:cNvPr id="11" name="LexFlow 11"/>
          <p:cNvSpPr txBox="1"/>
          <p:nvPr/>
        </p:nvSpPr>
        <p:spPr>
          <a:xfrm>
            <a:off x="548640" y="6419088"/>
            <a:ext cx="10789920" cy="219456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r>
              <a:rPr lang="en-GB" sz="900" b="0">
                <a:solidFill>
                  <a:srgbClr val="5D6A67"/>
                </a:solidFill>
                <a:latin typeface="Arial"/>
              </a:rPr>
              <a:t>ALLGIFT TECHNOLOGIES LTD  /  SYNTHETIC PRESENTATION DEMO  /  23 OCTOBER 2026</a:t>
            </a:r>
            <a:endParaRPr lang="en-GB" sz="900"/>
          </a:p>
        </p:txBody>
      </p:sp>
      <p:sp>
        <p:nvSpPr>
          <p:cNvPr id="12" name="LexFlow 12"/>
          <p:cNvSpPr txBox="1"/>
          <p:nvPr/>
        </p:nvSpPr>
        <p:spPr>
          <a:xfrm>
            <a:off x="11109960" y="6400800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r>
              <a:rPr lang="en-GB" sz="1200" b="1">
                <a:solidFill>
                  <a:srgbClr val="1E5250"/>
                </a:solidFill>
                <a:latin typeface="Arial"/>
              </a:rPr>
              <a:t>06</a:t>
            </a:r>
            <a:endParaRPr lang="en-GB" sz="120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>
  <p:cSld>
    <p:bg>
      <p:bgPr>
        <a:solidFill>
          <a:srgbClr val="F3F5F1"/>
        </a:solidFill>
      </p:bgPr>
    </p:bg>
    <p:spTree>
      <p:nvGrpSpPr>
        <p:cNvPr id="1" name=""/>
        <p:cNvGrpSpPr/>
        <p:nvPr/>
      </p:nvGrpSpPr>
      <p:grpSpPr/>
      <p:sp>
        <p:nvSpPr>
          <p:cNvPr id="2" name="LexFlow 2"/>
          <p:cNvSpPr txBox="1"/>
          <p:nvPr/>
        </p:nvSpPr>
        <p:spPr>
          <a:xfrm>
            <a:off x="530352" y="457200"/>
            <a:ext cx="10972800" cy="36576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r>
              <a:rPr lang="en-GB" sz="1200" b="1">
                <a:solidFill>
                  <a:srgbClr val="1E5250"/>
                </a:solidFill>
                <a:latin typeface="Arial"/>
              </a:rPr>
              <a:t>06 / PROTECTION IN THE BUILD</a:t>
            </a:r>
            <a:endParaRPr lang="en-GB" sz="1200"/>
          </a:p>
        </p:txBody>
      </p:sp>
      <p:sp>
        <p:nvSpPr>
          <p:cNvPr id="3" name="LexFlow 3"/>
          <p:cNvSpPr txBox="1"/>
          <p:nvPr/>
        </p:nvSpPr>
        <p:spPr>
          <a:xfrm>
            <a:off x="530352" y="1051560"/>
            <a:ext cx="11109960" cy="1143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r>
              <a:rPr lang="en-GB" sz="3600" b="1">
                <a:solidFill>
                  <a:srgbClr val="142D2C"/>
                </a:solidFill>
                <a:latin typeface="Arial"/>
              </a:rPr>
              <a:t>Controls that can be demonstrated</a:t>
            </a:r>
            <a:endParaRPr lang="en-GB" sz="3600"/>
          </a:p>
        </p:txBody>
      </p:sp>
      <p:sp>
        <p:nvSpPr>
          <p:cNvPr id="4" name="LexFlow 4"/>
          <p:cNvSpPr txBox="1"/>
          <p:nvPr/>
        </p:nvSpPr>
        <p:spPr>
          <a:xfrm>
            <a:off x="548640" y="2331720"/>
            <a:ext cx="10789920" cy="59436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r>
              <a:rPr lang="en-GB" sz="1900" b="0">
                <a:solidFill>
                  <a:srgbClr val="5D6A67"/>
                </a:solidFill>
                <a:latin typeface="Arial"/>
              </a:rPr>
              <a:t>Show the controls and their practical limits.</a:t>
            </a:r>
            <a:endParaRPr lang="en-GB" sz="1900"/>
          </a:p>
        </p:txBody>
      </p:sp>
      <p:sp>
        <p:nvSpPr>
          <p:cNvPr id="5" name="LexFlow 5"/>
          <p:cNvSpPr txBox="1"/>
          <p:nvPr/>
        </p:nvSpPr>
        <p:spPr>
          <a:xfrm>
            <a:off x="548640" y="3246120"/>
            <a:ext cx="5440680" cy="2468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0" rIns="0" tIns="0" bIns="0"/>
          <a:lstStyle/>
          <a:p>
            <a:r>
              <a:rPr lang="en-GB" sz="1800" b="0">
                <a:solidFill>
                  <a:srgbClr val="142D2C"/>
                </a:solidFill>
                <a:latin typeface="Arial"/>
              </a:rPr>
              <a:t/>
            </a:r>
            <a:endParaRPr lang="en-GB" sz="1800"/>
          </a:p>
        </p:txBody>
      </p:sp>
      <p:sp>
        <p:nvSpPr>
          <p:cNvPr id="6" name="LexFlow 6"/>
          <p:cNvSpPr txBox="1"/>
          <p:nvPr/>
        </p:nvSpPr>
        <p:spPr>
          <a:xfrm>
            <a:off x="768096" y="3493008"/>
            <a:ext cx="4965192" cy="4572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r>
              <a:rPr lang="en-GB" sz="2000" b="1">
                <a:solidFill>
                  <a:srgbClr val="1E5250"/>
                </a:solidFill>
                <a:latin typeface="Arial"/>
              </a:rPr>
              <a:t>Confidentiality and approval</a:t>
            </a:r>
            <a:endParaRPr lang="en-GB" sz="2000"/>
          </a:p>
        </p:txBody>
      </p:sp>
      <p:sp>
        <p:nvSpPr>
          <p:cNvPr id="7" name="LexFlow 7"/>
          <p:cNvSpPr txBox="1"/>
          <p:nvPr/>
        </p:nvSpPr>
        <p:spPr>
          <a:xfrm>
            <a:off x="768096" y="4023360"/>
            <a:ext cx="4965192" cy="1499616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r>
              <a:rPr lang="en-GB" sz="1700" b="0">
                <a:solidFill>
                  <a:srgbClr val="142D2C"/>
                </a:solidFill>
                <a:latin typeface="Arial"/>
              </a:rPr>
              <a:t>Per-office encryption covers source files, source text, structured case values, revisions and audit metadata. Production refuses development secrets. Review and approval share a locking protocol.</a:t>
            </a:r>
            <a:endParaRPr lang="en-GB" sz="1700"/>
          </a:p>
        </p:txBody>
      </p:sp>
      <p:sp>
        <p:nvSpPr>
          <p:cNvPr id="8" name="LexFlow 8"/>
          <p:cNvSpPr txBox="1"/>
          <p:nvPr/>
        </p:nvSpPr>
        <p:spPr>
          <a:xfrm>
            <a:off x="6172200" y="3246120"/>
            <a:ext cx="5440680" cy="2468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0" rIns="0" tIns="0" bIns="0"/>
          <a:lstStyle/>
          <a:p>
            <a:r>
              <a:rPr lang="en-GB" sz="1800" b="0">
                <a:solidFill>
                  <a:srgbClr val="142D2C"/>
                </a:solidFill>
                <a:latin typeface="Arial"/>
              </a:rPr>
              <a:t/>
            </a:r>
            <a:endParaRPr lang="en-GB" sz="1800"/>
          </a:p>
        </p:txBody>
      </p:sp>
      <p:sp>
        <p:nvSpPr>
          <p:cNvPr id="9" name="LexFlow 9"/>
          <p:cNvSpPr txBox="1"/>
          <p:nvPr/>
        </p:nvSpPr>
        <p:spPr>
          <a:xfrm>
            <a:off x="6391656" y="3493008"/>
            <a:ext cx="4965192" cy="4572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r>
              <a:rPr lang="en-GB" sz="2000" b="1">
                <a:solidFill>
                  <a:srgbClr val="1E5250"/>
                </a:solidFill>
                <a:latin typeface="Arial"/>
              </a:rPr>
              <a:t>Traceability and retention</a:t>
            </a:r>
            <a:endParaRPr lang="en-GB" sz="2000"/>
          </a:p>
        </p:txBody>
      </p:sp>
      <p:sp>
        <p:nvSpPr>
          <p:cNvPr id="10" name="LexFlow 10"/>
          <p:cNvSpPr txBox="1"/>
          <p:nvPr/>
        </p:nvSpPr>
        <p:spPr>
          <a:xfrm>
            <a:off x="6391656" y="4023360"/>
            <a:ext cx="4965192" cy="1499616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r>
              <a:rPr lang="en-GB" sz="1700" b="0">
                <a:solidFill>
                  <a:srgbClr val="142D2C"/>
                </a:solidFill>
                <a:latin typeface="Arial"/>
              </a:rPr>
              <a:t>Audit events have a signed hash chain. Separately held checkpoints detect an older database replay. Encrypted backups restore sources, private fields, approvals and export evidence.</a:t>
            </a:r>
            <a:endParaRPr lang="en-GB" sz="1700"/>
          </a:p>
        </p:txBody>
      </p:sp>
      <p:sp>
        <p:nvSpPr>
          <p:cNvPr id="11" name="LexFlow 11"/>
          <p:cNvSpPr txBox="1"/>
          <p:nvPr/>
        </p:nvSpPr>
        <p:spPr>
          <a:xfrm>
            <a:off x="548640" y="6419088"/>
            <a:ext cx="10789920" cy="219456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r>
              <a:rPr lang="en-GB" sz="900" b="0">
                <a:solidFill>
                  <a:srgbClr val="5D6A67"/>
                </a:solidFill>
                <a:latin typeface="Arial"/>
              </a:rPr>
              <a:t>ALLGIFT TECHNOLOGIES LTD  /  SYNTHETIC PRESENTATION DEMO  /  23 OCTOBER 2026</a:t>
            </a:r>
            <a:endParaRPr lang="en-GB" sz="900"/>
          </a:p>
        </p:txBody>
      </p:sp>
      <p:sp>
        <p:nvSpPr>
          <p:cNvPr id="12" name="LexFlow 12"/>
          <p:cNvSpPr txBox="1"/>
          <p:nvPr/>
        </p:nvSpPr>
        <p:spPr>
          <a:xfrm>
            <a:off x="11109960" y="6400800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r>
              <a:rPr lang="en-GB" sz="1200" b="1">
                <a:solidFill>
                  <a:srgbClr val="1E5250"/>
                </a:solidFill>
                <a:latin typeface="Arial"/>
              </a:rPr>
              <a:t>07</a:t>
            </a:r>
            <a:endParaRPr lang="en-GB" sz="120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>
  <p:cSld>
    <p:bg>
      <p:bgPr>
        <a:solidFill>
          <a:srgbClr val="F3F5F1"/>
        </a:solidFill>
      </p:bgPr>
    </p:bg>
    <p:spTree>
      <p:nvGrpSpPr>
        <p:cNvPr id="1" name=""/>
        <p:cNvGrpSpPr/>
        <p:nvPr/>
      </p:nvGrpSpPr>
      <p:grpSpPr/>
      <p:sp>
        <p:nvSpPr>
          <p:cNvPr id="2" name="LexFlow 2"/>
          <p:cNvSpPr txBox="1"/>
          <p:nvPr/>
        </p:nvSpPr>
        <p:spPr>
          <a:xfrm>
            <a:off x="530352" y="457200"/>
            <a:ext cx="10972800" cy="36576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r>
              <a:rPr lang="en-GB" sz="1200" b="1">
                <a:solidFill>
                  <a:srgbClr val="1E5250"/>
                </a:solidFill>
                <a:latin typeface="Arial"/>
              </a:rPr>
              <a:t>07 / ONE OFFICE, ONE DEPLOYMENT</a:t>
            </a:r>
            <a:endParaRPr lang="en-GB" sz="1200"/>
          </a:p>
        </p:txBody>
      </p:sp>
      <p:sp>
        <p:nvSpPr>
          <p:cNvPr id="3" name="LexFlow 3"/>
          <p:cNvSpPr txBox="1"/>
          <p:nvPr/>
        </p:nvSpPr>
        <p:spPr>
          <a:xfrm>
            <a:off x="530352" y="1051560"/>
            <a:ext cx="11109960" cy="1143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r>
              <a:rPr lang="en-GB" sz="3600" b="1">
                <a:solidFill>
                  <a:srgbClr val="142D2C"/>
                </a:solidFill>
                <a:latin typeface="Arial"/>
              </a:rPr>
              <a:t>A dedicated pilot boundary</a:t>
            </a:r>
            <a:endParaRPr lang="en-GB" sz="3600"/>
          </a:p>
        </p:txBody>
      </p:sp>
      <p:sp>
        <p:nvSpPr>
          <p:cNvPr id="4" name="LexFlow 4"/>
          <p:cNvSpPr txBox="1"/>
          <p:nvPr/>
        </p:nvSpPr>
        <p:spPr>
          <a:xfrm>
            <a:off x="548640" y="2331720"/>
            <a:ext cx="10789920" cy="59436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r>
              <a:rPr lang="en-GB" sz="1900" b="0">
                <a:solidFill>
                  <a:srgbClr val="5D6A67"/>
                </a:solidFill>
                <a:latin typeface="Arial"/>
              </a:rPr>
              <a:t>Prepare separate database, storage and keys for each office.</a:t>
            </a:r>
            <a:endParaRPr lang="en-GB" sz="1900"/>
          </a:p>
        </p:txBody>
      </p:sp>
      <p:sp>
        <p:nvSpPr>
          <p:cNvPr id="5" name="LexFlow 5"/>
          <p:cNvSpPr txBox="1"/>
          <p:nvPr/>
        </p:nvSpPr>
        <p:spPr>
          <a:xfrm>
            <a:off x="548640" y="3246120"/>
            <a:ext cx="5440680" cy="2468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0" rIns="0" tIns="0" bIns="0"/>
          <a:lstStyle/>
          <a:p>
            <a:r>
              <a:rPr lang="en-GB" sz="1800" b="0">
                <a:solidFill>
                  <a:srgbClr val="142D2C"/>
                </a:solidFill>
                <a:latin typeface="Arial"/>
              </a:rPr>
              <a:t/>
            </a:r>
            <a:endParaRPr lang="en-GB" sz="1800"/>
          </a:p>
        </p:txBody>
      </p:sp>
      <p:sp>
        <p:nvSpPr>
          <p:cNvPr id="6" name="LexFlow 6"/>
          <p:cNvSpPr txBox="1"/>
          <p:nvPr/>
        </p:nvSpPr>
        <p:spPr>
          <a:xfrm>
            <a:off x="768096" y="3493008"/>
            <a:ext cx="4965192" cy="4572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r>
              <a:rPr lang="en-GB" sz="2000" b="1">
                <a:solidFill>
                  <a:srgbClr val="1E5250"/>
                </a:solidFill>
                <a:latin typeface="Arial"/>
              </a:rPr>
              <a:t>Presentation environment</a:t>
            </a:r>
            <a:endParaRPr lang="en-GB" sz="2000"/>
          </a:p>
        </p:txBody>
      </p:sp>
      <p:sp>
        <p:nvSpPr>
          <p:cNvPr id="7" name="LexFlow 7"/>
          <p:cNvSpPr txBox="1"/>
          <p:nvPr/>
        </p:nvSpPr>
        <p:spPr>
          <a:xfrm>
            <a:off x="768096" y="4023360"/>
            <a:ext cx="4965192" cy="1499616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r>
              <a:rPr lang="en-GB" sz="1700" b="0">
                <a:solidFill>
                  <a:srgbClr val="142D2C"/>
                </a:solidFill>
                <a:latin typeface="Arial"/>
              </a:rPr>
              <a:t>The launcher creates one office, a separate database, vault and keys. Local OCR reads scans; original-source review remains mandatory. A remote scanner/email client uses only the intake API.</a:t>
            </a:r>
            <a:endParaRPr lang="en-GB" sz="1700"/>
          </a:p>
        </p:txBody>
      </p:sp>
      <p:sp>
        <p:nvSpPr>
          <p:cNvPr id="8" name="LexFlow 8"/>
          <p:cNvSpPr txBox="1"/>
          <p:nvPr/>
        </p:nvSpPr>
        <p:spPr>
          <a:xfrm>
            <a:off x="6172200" y="3246120"/>
            <a:ext cx="5440680" cy="2468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0" rIns="0" tIns="0" bIns="0"/>
          <a:lstStyle/>
          <a:p>
            <a:r>
              <a:rPr lang="en-GB" sz="1800" b="0">
                <a:solidFill>
                  <a:srgbClr val="142D2C"/>
                </a:solidFill>
                <a:latin typeface="Arial"/>
              </a:rPr>
              <a:t/>
            </a:r>
            <a:endParaRPr lang="en-GB" sz="1800"/>
          </a:p>
        </p:txBody>
      </p:sp>
      <p:sp>
        <p:nvSpPr>
          <p:cNvPr id="9" name="LexFlow 9"/>
          <p:cNvSpPr txBox="1"/>
          <p:nvPr/>
        </p:nvSpPr>
        <p:spPr>
          <a:xfrm>
            <a:off x="6391656" y="3493008"/>
            <a:ext cx="4965192" cy="4572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r>
              <a:rPr lang="en-GB" sz="2000" b="1">
                <a:solidFill>
                  <a:srgbClr val="1E5250"/>
                </a:solidFill>
                <a:latin typeface="Arial"/>
              </a:rPr>
              <a:t>Deployment package</a:t>
            </a:r>
            <a:endParaRPr lang="en-GB" sz="2000"/>
          </a:p>
        </p:txBody>
      </p:sp>
      <p:sp>
        <p:nvSpPr>
          <p:cNvPr id="10" name="LexFlow 10"/>
          <p:cNvSpPr txBox="1"/>
          <p:nvPr/>
        </p:nvSpPr>
        <p:spPr>
          <a:xfrm>
            <a:off x="6391656" y="4023360"/>
            <a:ext cx="4965192" cy="1499616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r>
              <a:rPr lang="en-GB" sz="1700" b="0">
                <a:solidFill>
                  <a:srgbClr val="142D2C"/>
                </a:solidFill>
                <a:latin typeface="Arial"/>
              </a:rPr>
              <a:t>Concurrency and complete encrypted restore passed on local PostgreSQL. A dedicated HTTPS stack is supplied. Its container build, client hosting, TLS and operational recovery still need validation.</a:t>
            </a:r>
            <a:endParaRPr lang="en-GB" sz="1700"/>
          </a:p>
        </p:txBody>
      </p:sp>
      <p:sp>
        <p:nvSpPr>
          <p:cNvPr id="11" name="LexFlow 11"/>
          <p:cNvSpPr txBox="1"/>
          <p:nvPr/>
        </p:nvSpPr>
        <p:spPr>
          <a:xfrm>
            <a:off x="548640" y="6419088"/>
            <a:ext cx="10789920" cy="219456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r>
              <a:rPr lang="en-GB" sz="900" b="0">
                <a:solidFill>
                  <a:srgbClr val="5D6A67"/>
                </a:solidFill>
                <a:latin typeface="Arial"/>
              </a:rPr>
              <a:t>ALLGIFT TECHNOLOGIES LTD  /  SYNTHETIC PRESENTATION DEMO  /  23 OCTOBER 2026</a:t>
            </a:r>
            <a:endParaRPr lang="en-GB" sz="900"/>
          </a:p>
        </p:txBody>
      </p:sp>
      <p:sp>
        <p:nvSpPr>
          <p:cNvPr id="12" name="LexFlow 12"/>
          <p:cNvSpPr txBox="1"/>
          <p:nvPr/>
        </p:nvSpPr>
        <p:spPr>
          <a:xfrm>
            <a:off x="11109960" y="6400800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r>
              <a:rPr lang="en-GB" sz="1200" b="1">
                <a:solidFill>
                  <a:srgbClr val="1E5250"/>
                </a:solidFill>
                <a:latin typeface="Arial"/>
              </a:rPr>
              <a:t>08</a:t>
            </a:r>
            <a:endParaRPr lang="en-GB" sz="12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>
  <p:cSld>
    <p:bg>
      <p:bgPr>
        <a:solidFill>
          <a:srgbClr val="F3F5F1"/>
        </a:solidFill>
      </p:bgPr>
    </p:bg>
    <p:spTree>
      <p:nvGrpSpPr>
        <p:cNvPr id="1" name=""/>
        <p:cNvGrpSpPr/>
        <p:nvPr/>
      </p:nvGrpSpPr>
      <p:grpSpPr/>
      <p:sp>
        <p:nvSpPr>
          <p:cNvPr id="2" name="LexFlow 2"/>
          <p:cNvSpPr txBox="1"/>
          <p:nvPr/>
        </p:nvSpPr>
        <p:spPr>
          <a:xfrm>
            <a:off x="530352" y="457200"/>
            <a:ext cx="10972800" cy="36576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r>
              <a:rPr lang="en-GB" sz="1200" b="1">
                <a:solidFill>
                  <a:srgbClr val="1E5250"/>
                </a:solidFill>
                <a:latin typeface="Arial"/>
              </a:rPr>
              <a:t>08 / PILOT EVIDENCE</a:t>
            </a:r>
            <a:endParaRPr lang="en-GB" sz="1200"/>
          </a:p>
        </p:txBody>
      </p:sp>
      <p:sp>
        <p:nvSpPr>
          <p:cNvPr id="3" name="LexFlow 3"/>
          <p:cNvSpPr txBox="1"/>
          <p:nvPr/>
        </p:nvSpPr>
        <p:spPr>
          <a:xfrm>
            <a:off x="530352" y="1051560"/>
            <a:ext cx="11109960" cy="1143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r>
              <a:rPr lang="en-GB" sz="3600" b="1">
                <a:solidFill>
                  <a:srgbClr val="142D2C"/>
                </a:solidFill>
                <a:latin typeface="Arial"/>
              </a:rPr>
              <a:t>Measure results without mixing demo data</a:t>
            </a:r>
            <a:endParaRPr lang="en-GB" sz="3600"/>
          </a:p>
        </p:txBody>
      </p:sp>
      <p:sp>
        <p:nvSpPr>
          <p:cNvPr id="4" name="LexFlow 4"/>
          <p:cNvSpPr txBox="1"/>
          <p:nvPr/>
        </p:nvSpPr>
        <p:spPr>
          <a:xfrm>
            <a:off x="548640" y="2331720"/>
            <a:ext cx="10789920" cy="59436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r>
              <a:rPr lang="en-GB" sz="1900" b="0">
                <a:solidFill>
                  <a:srgbClr val="5D6A67"/>
                </a:solidFill>
                <a:latin typeface="Arial"/>
              </a:rPr>
              <a:t>Demonstration history is clearly labelled and excluded from live-pilot measurements.</a:t>
            </a:r>
            <a:endParaRPr lang="en-GB" sz="1900"/>
          </a:p>
        </p:txBody>
      </p:sp>
      <p:sp>
        <p:nvSpPr>
          <p:cNvPr id="5" name="LexFlow 5"/>
          <p:cNvSpPr txBox="1"/>
          <p:nvPr/>
        </p:nvSpPr>
        <p:spPr>
          <a:xfrm>
            <a:off x="548640" y="3246120"/>
            <a:ext cx="5440680" cy="2468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0" rIns="0" tIns="0" bIns="0"/>
          <a:lstStyle/>
          <a:p>
            <a:r>
              <a:rPr lang="en-GB" sz="1800" b="0">
                <a:solidFill>
                  <a:srgbClr val="142D2C"/>
                </a:solidFill>
                <a:latin typeface="Arial"/>
              </a:rPr>
              <a:t/>
            </a:r>
            <a:endParaRPr lang="en-GB" sz="1800"/>
          </a:p>
        </p:txBody>
      </p:sp>
      <p:sp>
        <p:nvSpPr>
          <p:cNvPr id="6" name="LexFlow 6"/>
          <p:cNvSpPr txBox="1"/>
          <p:nvPr/>
        </p:nvSpPr>
        <p:spPr>
          <a:xfrm>
            <a:off x="768096" y="3493008"/>
            <a:ext cx="4965192" cy="4572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r>
              <a:rPr lang="en-GB" sz="2000" b="1">
                <a:solidFill>
                  <a:srgbClr val="1E5250"/>
                </a:solidFill>
                <a:latin typeface="Arial"/>
              </a:rPr>
              <a:t>Four analytics tabs</a:t>
            </a:r>
            <a:endParaRPr lang="en-GB" sz="2000"/>
          </a:p>
        </p:txBody>
      </p:sp>
      <p:sp>
        <p:nvSpPr>
          <p:cNvPr id="7" name="LexFlow 7"/>
          <p:cNvSpPr txBox="1"/>
          <p:nvPr/>
        </p:nvSpPr>
        <p:spPr>
          <a:xfrm>
            <a:off x="768096" y="4023360"/>
            <a:ext cx="4965192" cy="1499616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r>
              <a:rPr lang="en-GB" sz="1700" b="0">
                <a:solidFill>
                  <a:srgbClr val="142D2C"/>
                </a:solidFill>
                <a:latin typeface="Arial"/>
              </a:rPr>
              <a:t>Filter by intake receipt period, workflow, source and demo/live cohort. Inspect extraction and review, workload and median/P90 timing, delivery and audit. Charts have exact-value tables, case links and aggregate CSV export.</a:t>
            </a:r>
            <a:endParaRPr lang="en-GB" sz="1700"/>
          </a:p>
        </p:txBody>
      </p:sp>
      <p:sp>
        <p:nvSpPr>
          <p:cNvPr id="8" name="LexFlow 8"/>
          <p:cNvSpPr txBox="1"/>
          <p:nvPr/>
        </p:nvSpPr>
        <p:spPr>
          <a:xfrm>
            <a:off x="6172200" y="3246120"/>
            <a:ext cx="5440680" cy="2468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0" rIns="0" tIns="0" bIns="0"/>
          <a:lstStyle/>
          <a:p>
            <a:r>
              <a:rPr lang="en-GB" sz="1800" b="0">
                <a:solidFill>
                  <a:srgbClr val="142D2C"/>
                </a:solidFill>
                <a:latin typeface="Arial"/>
              </a:rPr>
              <a:t/>
            </a:r>
            <a:endParaRPr lang="en-GB" sz="1800"/>
          </a:p>
        </p:txBody>
      </p:sp>
      <p:sp>
        <p:nvSpPr>
          <p:cNvPr id="9" name="LexFlow 9"/>
          <p:cNvSpPr txBox="1"/>
          <p:nvPr/>
        </p:nvSpPr>
        <p:spPr>
          <a:xfrm>
            <a:off x="6391656" y="3493008"/>
            <a:ext cx="4965192" cy="4572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r>
              <a:rPr lang="en-GB" sz="2000" b="1">
                <a:solidFill>
                  <a:srgbClr val="1E5250"/>
                </a:solidFill>
                <a:latin typeface="Arial"/>
              </a:rPr>
              <a:t>Compare the right measures</a:t>
            </a:r>
            <a:endParaRPr lang="en-GB" sz="2000"/>
          </a:p>
        </p:txBody>
      </p:sp>
      <p:sp>
        <p:nvSpPr>
          <p:cNvPr id="10" name="LexFlow 10"/>
          <p:cNvSpPr txBox="1"/>
          <p:nvPr/>
        </p:nvSpPr>
        <p:spPr>
          <a:xfrm>
            <a:off x="6391656" y="4023360"/>
            <a:ext cx="4965192" cy="1499616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r>
              <a:rPr lang="en-GB" sz="1700" b="0">
                <a:solidFill>
                  <a:srgbClr val="142D2C"/>
                </a:solidFill>
                <a:latin typeface="Arial"/>
              </a:rPr>
              <a:t>First-extraction coverage differs from human-completed fields. Elapsed approval time includes waiting; staff handling time and re-keying errors need separate office measurements. Synthetic checks do not establish customer accuracy or savings.</a:t>
            </a:r>
            <a:endParaRPr lang="en-GB" sz="1700"/>
          </a:p>
        </p:txBody>
      </p:sp>
      <p:sp>
        <p:nvSpPr>
          <p:cNvPr id="11" name="LexFlow 11"/>
          <p:cNvSpPr txBox="1"/>
          <p:nvPr/>
        </p:nvSpPr>
        <p:spPr>
          <a:xfrm>
            <a:off x="548640" y="6419088"/>
            <a:ext cx="10789920" cy="219456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r>
              <a:rPr lang="en-GB" sz="900" b="0">
                <a:solidFill>
                  <a:srgbClr val="5D6A67"/>
                </a:solidFill>
                <a:latin typeface="Arial"/>
              </a:rPr>
              <a:t>ALLGIFT TECHNOLOGIES LTD  /  SYNTHETIC PRESENTATION DEMO  /  23 OCTOBER 2026</a:t>
            </a:r>
            <a:endParaRPr lang="en-GB" sz="900"/>
          </a:p>
        </p:txBody>
      </p:sp>
      <p:sp>
        <p:nvSpPr>
          <p:cNvPr id="12" name="LexFlow 12"/>
          <p:cNvSpPr txBox="1"/>
          <p:nvPr/>
        </p:nvSpPr>
        <p:spPr>
          <a:xfrm>
            <a:off x="11109960" y="6400800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r>
              <a:rPr lang="en-GB" sz="1200" b="1">
                <a:solidFill>
                  <a:srgbClr val="1E5250"/>
                </a:solidFill>
                <a:latin typeface="Arial"/>
              </a:rPr>
              <a:t>09</a:t>
            </a:r>
            <a:endParaRPr lang="en-GB" sz="120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>
  <p:cSld>
    <p:bg>
      <p:bgPr>
        <a:solidFill>
          <a:srgbClr val="F3F5F1"/>
        </a:solidFill>
      </p:bgPr>
    </p:bg>
    <p:spTree>
      <p:nvGrpSpPr>
        <p:cNvPr id="1" name=""/>
        <p:cNvGrpSpPr/>
        <p:nvPr/>
      </p:nvGrpSpPr>
      <p:grpSpPr/>
      <p:sp>
        <p:nvSpPr>
          <p:cNvPr id="2" name="LexFlow 2"/>
          <p:cNvSpPr txBox="1"/>
          <p:nvPr/>
        </p:nvSpPr>
        <p:spPr>
          <a:xfrm>
            <a:off x="530352" y="457200"/>
            <a:ext cx="10972800" cy="36576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r>
              <a:rPr lang="en-GB" sz="1200" b="1">
                <a:solidFill>
                  <a:srgbClr val="1E5250"/>
                </a:solidFill>
                <a:latin typeface="Arial"/>
              </a:rPr>
              <a:t>09 / LIVE DEMONSTRATION</a:t>
            </a:r>
            <a:endParaRPr lang="en-GB" sz="1200"/>
          </a:p>
        </p:txBody>
      </p:sp>
      <p:sp>
        <p:nvSpPr>
          <p:cNvPr id="3" name="LexFlow 3"/>
          <p:cNvSpPr txBox="1"/>
          <p:nvPr/>
        </p:nvSpPr>
        <p:spPr>
          <a:xfrm>
            <a:off x="530352" y="1051560"/>
            <a:ext cx="11109960" cy="1143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r>
              <a:rPr lang="en-GB" sz="3600" b="1">
                <a:solidFill>
                  <a:srgbClr val="142D2C"/>
                </a:solidFill>
                <a:latin typeface="Arial"/>
              </a:rPr>
              <a:t>A seven-minute walkthrough</a:t>
            </a:r>
            <a:endParaRPr lang="en-GB" sz="3600"/>
          </a:p>
        </p:txBody>
      </p:sp>
      <p:sp>
        <p:nvSpPr>
          <p:cNvPr id="4" name="LexFlow 4"/>
          <p:cNvSpPr txBox="1"/>
          <p:nvPr/>
        </p:nvSpPr>
        <p:spPr>
          <a:xfrm>
            <a:off x="548640" y="2331720"/>
            <a:ext cx="10789920" cy="59436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r>
              <a:rPr lang="en-GB" sz="1900" b="0">
                <a:solidFill>
                  <a:srgbClr val="5D6A67"/>
                </a:solidFill>
                <a:latin typeface="Arial"/>
              </a:rPr>
              <a:t>Use /presentation/ as your presenter guide.</a:t>
            </a:r>
            <a:endParaRPr lang="en-GB" sz="1900"/>
          </a:p>
        </p:txBody>
      </p:sp>
      <p:sp>
        <p:nvSpPr>
          <p:cNvPr id="5" name="LexFlow 5"/>
          <p:cNvSpPr txBox="1"/>
          <p:nvPr/>
        </p:nvSpPr>
        <p:spPr>
          <a:xfrm>
            <a:off x="548640" y="3246120"/>
            <a:ext cx="5440680" cy="2468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0" rIns="0" tIns="0" bIns="0"/>
          <a:lstStyle/>
          <a:p>
            <a:r>
              <a:rPr lang="en-GB" sz="1800" b="0">
                <a:solidFill>
                  <a:srgbClr val="142D2C"/>
                </a:solidFill>
                <a:latin typeface="Arial"/>
              </a:rPr>
              <a:t/>
            </a:r>
            <a:endParaRPr lang="en-GB" sz="1800"/>
          </a:p>
        </p:txBody>
      </p:sp>
      <p:sp>
        <p:nvSpPr>
          <p:cNvPr id="6" name="LexFlow 6"/>
          <p:cNvSpPr txBox="1"/>
          <p:nvPr/>
        </p:nvSpPr>
        <p:spPr>
          <a:xfrm>
            <a:off x="768096" y="3493008"/>
            <a:ext cx="4965192" cy="4572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r>
              <a:rPr lang="en-GB" sz="2000" b="1">
                <a:solidFill>
                  <a:srgbClr val="1E5250"/>
                </a:solidFill>
                <a:latin typeface="Arial"/>
              </a:rPr>
              <a:t>Minutes 1–4</a:t>
            </a:r>
            <a:endParaRPr lang="en-GB" sz="2000"/>
          </a:p>
        </p:txBody>
      </p:sp>
      <p:sp>
        <p:nvSpPr>
          <p:cNvPr id="7" name="LexFlow 7"/>
          <p:cNvSpPr txBox="1"/>
          <p:nvPr/>
        </p:nvSpPr>
        <p:spPr>
          <a:xfrm>
            <a:off x="768096" y="4023360"/>
            <a:ext cx="4965192" cy="1499616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r>
              <a:rPr lang="en-GB" sz="1700" b="0">
                <a:solidFill>
                  <a:srgbClr val="142D2C"/>
                </a:solidFill>
                <a:latin typeface="Arial"/>
              </a:rPr>
              <a:t>Open the unprocessed intake. Process the documents. Show the Blatt 812 / 872 conflict. Resolve the source choice and confirm the price as the clerk.</a:t>
            </a:r>
            <a:endParaRPr lang="en-GB" sz="1700"/>
          </a:p>
        </p:txBody>
      </p:sp>
      <p:sp>
        <p:nvSpPr>
          <p:cNvPr id="8" name="LexFlow 8"/>
          <p:cNvSpPr txBox="1"/>
          <p:nvPr/>
        </p:nvSpPr>
        <p:spPr>
          <a:xfrm>
            <a:off x="6172200" y="3246120"/>
            <a:ext cx="5440680" cy="2468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0" rIns="0" tIns="0" bIns="0"/>
          <a:lstStyle/>
          <a:p>
            <a:r>
              <a:rPr lang="en-GB" sz="1800" b="0">
                <a:solidFill>
                  <a:srgbClr val="142D2C"/>
                </a:solidFill>
                <a:latin typeface="Arial"/>
              </a:rPr>
              <a:t/>
            </a:r>
            <a:endParaRPr lang="en-GB" sz="1800"/>
          </a:p>
        </p:txBody>
      </p:sp>
      <p:sp>
        <p:nvSpPr>
          <p:cNvPr id="9" name="LexFlow 9"/>
          <p:cNvSpPr txBox="1"/>
          <p:nvPr/>
        </p:nvSpPr>
        <p:spPr>
          <a:xfrm>
            <a:off x="6391656" y="3493008"/>
            <a:ext cx="4965192" cy="4572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r>
              <a:rPr lang="en-GB" sz="2000" b="1">
                <a:solidFill>
                  <a:srgbClr val="1E5250"/>
                </a:solidFill>
                <a:latin typeface="Arial"/>
              </a:rPr>
              <a:t>Minutes 5–7</a:t>
            </a:r>
            <a:endParaRPr lang="en-GB" sz="2000"/>
          </a:p>
        </p:txBody>
      </p:sp>
      <p:sp>
        <p:nvSpPr>
          <p:cNvPr id="10" name="LexFlow 10"/>
          <p:cNvSpPr txBox="1"/>
          <p:nvPr/>
        </p:nvSpPr>
        <p:spPr>
          <a:xfrm>
            <a:off x="6391656" y="4023360"/>
            <a:ext cx="4965192" cy="1499616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r>
              <a:rPr lang="en-GB" sz="1700" b="0">
                <a:solidFill>
                  <a:srgbClr val="142D2C"/>
                </a:solidFill>
                <a:latin typeface="Arial"/>
              </a:rPr>
              <a:t>Sign in as the notary. Approve, create the HTTP export and send it. Show its verified receipt and audit trail. Optionally demonstrate scanned intake and mandatory source review.</a:t>
            </a:r>
            <a:endParaRPr lang="en-GB" sz="1700"/>
          </a:p>
        </p:txBody>
      </p:sp>
      <p:sp>
        <p:nvSpPr>
          <p:cNvPr id="11" name="LexFlow 11"/>
          <p:cNvSpPr txBox="1"/>
          <p:nvPr/>
        </p:nvSpPr>
        <p:spPr>
          <a:xfrm>
            <a:off x="548640" y="6419088"/>
            <a:ext cx="10789920" cy="219456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r>
              <a:rPr lang="en-GB" sz="900" b="0">
                <a:solidFill>
                  <a:srgbClr val="5D6A67"/>
                </a:solidFill>
                <a:latin typeface="Arial"/>
              </a:rPr>
              <a:t>ALLGIFT TECHNOLOGIES LTD  /  SYNTHETIC PRESENTATION DEMO  /  23 OCTOBER 2026</a:t>
            </a:r>
            <a:endParaRPr lang="en-GB" sz="900"/>
          </a:p>
        </p:txBody>
      </p:sp>
      <p:sp>
        <p:nvSpPr>
          <p:cNvPr id="12" name="LexFlow 12"/>
          <p:cNvSpPr txBox="1"/>
          <p:nvPr/>
        </p:nvSpPr>
        <p:spPr>
          <a:xfrm>
            <a:off x="11109960" y="6400800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r>
              <a:rPr lang="en-GB" sz="1200" b="1">
                <a:solidFill>
                  <a:srgbClr val="1E5250"/>
                </a:solidFill>
                <a:latin typeface="Arial"/>
              </a:rPr>
              <a:t>10</a:t>
            </a:r>
            <a:endParaRPr lang="en-GB" sz="12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>
  <p:cSld>
    <p:bg>
      <p:bgPr>
        <a:solidFill>
          <a:srgbClr val="F3F5F1"/>
        </a:solidFill>
      </p:bgPr>
    </p:bg>
    <p:spTree>
      <p:nvGrpSpPr>
        <p:cNvPr id="1" name=""/>
        <p:cNvGrpSpPr/>
        <p:nvPr/>
      </p:nvGrpSpPr>
      <p:grpSpPr/>
      <p:sp>
        <p:nvSpPr>
          <p:cNvPr id="2" name="LexFlow 2"/>
          <p:cNvSpPr txBox="1"/>
          <p:nvPr/>
        </p:nvSpPr>
        <p:spPr>
          <a:xfrm>
            <a:off x="530352" y="457200"/>
            <a:ext cx="10972800" cy="36576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r>
              <a:rPr lang="en-GB" sz="1200" b="1">
                <a:solidFill>
                  <a:srgbClr val="1E5250"/>
                </a:solidFill>
                <a:latin typeface="Arial"/>
              </a:rPr>
              <a:t>10 / WHAT IS NEXT</a:t>
            </a:r>
            <a:endParaRPr lang="en-GB" sz="1200"/>
          </a:p>
        </p:txBody>
      </p:sp>
      <p:sp>
        <p:nvSpPr>
          <p:cNvPr id="3" name="LexFlow 3"/>
          <p:cNvSpPr txBox="1"/>
          <p:nvPr/>
        </p:nvSpPr>
        <p:spPr>
          <a:xfrm>
            <a:off x="530352" y="1051560"/>
            <a:ext cx="11109960" cy="1143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r>
              <a:rPr lang="en-GB" sz="3600" b="1">
                <a:solidFill>
                  <a:srgbClr val="142D2C"/>
                </a:solidFill>
                <a:latin typeface="Arial"/>
              </a:rPr>
              <a:t>Expand plugins and destinations</a:t>
            </a:r>
            <a:endParaRPr lang="en-GB" sz="3600"/>
          </a:p>
        </p:txBody>
      </p:sp>
      <p:sp>
        <p:nvSpPr>
          <p:cNvPr id="4" name="LexFlow 4"/>
          <p:cNvSpPr txBox="1"/>
          <p:nvPr/>
        </p:nvSpPr>
        <p:spPr>
          <a:xfrm>
            <a:off x="548640" y="2331720"/>
            <a:ext cx="10789920" cy="59436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r>
              <a:rPr lang="en-GB" sz="1900" b="0">
                <a:solidFill>
                  <a:srgbClr val="5D6A67"/>
                </a:solidFill>
                <a:latin typeface="Arial"/>
              </a:rPr>
              <a:t>Build the shared foundation, then validate Outlook intake and one actual destination.</a:t>
            </a:r>
            <a:endParaRPr lang="en-GB" sz="1900"/>
          </a:p>
        </p:txBody>
      </p:sp>
      <p:sp>
        <p:nvSpPr>
          <p:cNvPr id="5" name="LexFlow 5"/>
          <p:cNvSpPr txBox="1"/>
          <p:nvPr/>
        </p:nvSpPr>
        <p:spPr>
          <a:xfrm>
            <a:off x="548640" y="3246120"/>
            <a:ext cx="5440680" cy="2468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0" rIns="0" tIns="0" bIns="0"/>
          <a:lstStyle/>
          <a:p>
            <a:r>
              <a:rPr lang="en-GB" sz="1800" b="0">
                <a:solidFill>
                  <a:srgbClr val="142D2C"/>
                </a:solidFill>
                <a:latin typeface="Arial"/>
              </a:rPr>
              <a:t/>
            </a:r>
            <a:endParaRPr lang="en-GB" sz="1800"/>
          </a:p>
        </p:txBody>
      </p:sp>
      <p:sp>
        <p:nvSpPr>
          <p:cNvPr id="6" name="LexFlow 6"/>
          <p:cNvSpPr txBox="1"/>
          <p:nvPr/>
        </p:nvSpPr>
        <p:spPr>
          <a:xfrm>
            <a:off x="768096" y="3493008"/>
            <a:ext cx="4965192" cy="4572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r>
              <a:rPr lang="en-GB" sz="2000" b="1">
                <a:solidFill>
                  <a:srgbClr val="1E5250"/>
                </a:solidFill>
                <a:latin typeface="Arial"/>
              </a:rPr>
              <a:t>Shared foundation — proposed</a:t>
            </a:r>
            <a:endParaRPr lang="en-GB" sz="2000"/>
          </a:p>
        </p:txBody>
      </p:sp>
      <p:sp>
        <p:nvSpPr>
          <p:cNvPr id="7" name="LexFlow 7"/>
          <p:cNvSpPr txBox="1"/>
          <p:nvPr/>
        </p:nvSpPr>
        <p:spPr>
          <a:xfrm>
            <a:off x="768096" y="4023360"/>
            <a:ext cx="4965192" cy="1499616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r>
              <a:rPr lang="en-GB" sz="1700" b="0">
                <a:solidFill>
                  <a:srgbClr val="142D2C"/>
                </a:solidFill>
                <a:latin typeface="Arial"/>
              </a:rPr>
              <a:t>Separate scoped plugin credentials, integration setup and connection tests, versioned destination mappings, and queued delivery. Preserve the existing approval, idempotency and verified-receipt controls.</a:t>
            </a:r>
            <a:endParaRPr lang="en-GB" sz="1700"/>
          </a:p>
        </p:txBody>
      </p:sp>
      <p:sp>
        <p:nvSpPr>
          <p:cNvPr id="8" name="LexFlow 8"/>
          <p:cNvSpPr txBox="1"/>
          <p:nvPr/>
        </p:nvSpPr>
        <p:spPr>
          <a:xfrm>
            <a:off x="6172200" y="3246120"/>
            <a:ext cx="5440680" cy="2468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0" rIns="0" tIns="0" bIns="0"/>
          <a:lstStyle/>
          <a:p>
            <a:r>
              <a:rPr lang="en-GB" sz="1800" b="0">
                <a:solidFill>
                  <a:srgbClr val="142D2C"/>
                </a:solidFill>
                <a:latin typeface="Arial"/>
              </a:rPr>
              <a:t/>
            </a:r>
            <a:endParaRPr lang="en-GB" sz="1800"/>
          </a:p>
        </p:txBody>
      </p:sp>
      <p:sp>
        <p:nvSpPr>
          <p:cNvPr id="9" name="LexFlow 9"/>
          <p:cNvSpPr txBox="1"/>
          <p:nvPr/>
        </p:nvSpPr>
        <p:spPr>
          <a:xfrm>
            <a:off x="6391656" y="3493008"/>
            <a:ext cx="4965192" cy="4572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r>
              <a:rPr lang="en-GB" sz="2000" b="1">
                <a:solidFill>
                  <a:srgbClr val="1E5250"/>
                </a:solidFill>
                <a:latin typeface="Arial"/>
              </a:rPr>
              <a:t>First integrations — proposed</a:t>
            </a:r>
            <a:endParaRPr lang="en-GB" sz="2000"/>
          </a:p>
        </p:txBody>
      </p:sp>
      <p:sp>
        <p:nvSpPr>
          <p:cNvPr id="10" name="LexFlow 10"/>
          <p:cNvSpPr txBox="1"/>
          <p:nvPr/>
        </p:nvSpPr>
        <p:spPr>
          <a:xfrm>
            <a:off x="6391656" y="4023360"/>
            <a:ext cx="4965192" cy="1499616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r>
              <a:rPr lang="en-GB" sz="1700" b="0">
                <a:solidFill>
                  <a:srgbClr val="142D2C"/>
                </a:solidFill>
                <a:latin typeface="Arial"/>
              </a:rPr>
              <a:t>Build Outlook intake and one office-selected vendor adapter against documented APIs/imports. Validate the exact product/version and durable receipt. Word template filling and cloud intake follow. Native plugins remain unimplemented.</a:t>
            </a:r>
            <a:endParaRPr lang="en-GB" sz="1700"/>
          </a:p>
        </p:txBody>
      </p:sp>
      <p:sp>
        <p:nvSpPr>
          <p:cNvPr id="11" name="LexFlow 11"/>
          <p:cNvSpPr txBox="1"/>
          <p:nvPr/>
        </p:nvSpPr>
        <p:spPr>
          <a:xfrm>
            <a:off x="548640" y="6419088"/>
            <a:ext cx="10789920" cy="219456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r>
              <a:rPr lang="en-GB" sz="900" b="0">
                <a:solidFill>
                  <a:srgbClr val="5D6A67"/>
                </a:solidFill>
                <a:latin typeface="Arial"/>
              </a:rPr>
              <a:t>ALLGIFT TECHNOLOGIES LTD  /  SYNTHETIC PRESENTATION DEMO  /  23 OCTOBER 2026</a:t>
            </a:r>
            <a:endParaRPr lang="en-GB" sz="900"/>
          </a:p>
        </p:txBody>
      </p:sp>
      <p:sp>
        <p:nvSpPr>
          <p:cNvPr id="12" name="LexFlow 12"/>
          <p:cNvSpPr txBox="1"/>
          <p:nvPr/>
        </p:nvSpPr>
        <p:spPr>
          <a:xfrm>
            <a:off x="11109960" y="6400800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r>
              <a:rPr lang="en-GB" sz="1200" b="1">
                <a:solidFill>
                  <a:srgbClr val="1E5250"/>
                </a:solidFill>
                <a:latin typeface="Arial"/>
              </a:rPr>
              <a:t>11</a:t>
            </a:r>
            <a:endParaRPr lang="en-GB" sz="12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>
  <p:cSld>
    <p:bg>
      <p:bgPr>
        <a:solidFill>
          <a:srgbClr val="142D2C"/>
        </a:solidFill>
      </p:bgPr>
    </p:bg>
    <p:spTree>
      <p:nvGrpSpPr>
        <p:cNvPr id="1" name=""/>
        <p:cNvGrpSpPr/>
        <p:nvPr/>
      </p:nvGrpSpPr>
      <p:grpSpPr/>
      <p:sp>
        <p:nvSpPr>
          <p:cNvPr id="2" name="LexFlow 2"/>
          <p:cNvSpPr txBox="1"/>
          <p:nvPr/>
        </p:nvSpPr>
        <p:spPr>
          <a:xfrm>
            <a:off x="530352" y="457200"/>
            <a:ext cx="10972800" cy="36576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r>
              <a:rPr lang="en-GB" sz="1200" b="1">
                <a:solidFill>
                  <a:srgbClr val="F4E4A1"/>
                </a:solidFill>
                <a:latin typeface="Arial"/>
              </a:rPr>
              <a:t>LEXFLOW AI / THE NEXT STEP</a:t>
            </a:r>
            <a:endParaRPr lang="en-GB" sz="1200"/>
          </a:p>
        </p:txBody>
      </p:sp>
      <p:sp>
        <p:nvSpPr>
          <p:cNvPr id="3" name="LexFlow 3"/>
          <p:cNvSpPr txBox="1"/>
          <p:nvPr/>
        </p:nvSpPr>
        <p:spPr>
          <a:xfrm>
            <a:off x="530352" y="1051560"/>
            <a:ext cx="11109960" cy="1143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r>
              <a:rPr lang="en-GB" sz="3600" b="1">
                <a:solidFill>
                  <a:srgbClr val="FFFFFF"/>
                </a:solidFill>
                <a:latin typeface="Arial"/>
              </a:rPr>
              <a:t>Select one destination. Validate one workflow.</a:t>
            </a:r>
            <a:endParaRPr lang="en-GB" sz="3600"/>
          </a:p>
        </p:txBody>
      </p:sp>
      <p:sp>
        <p:nvSpPr>
          <p:cNvPr id="4" name="LexFlow 4"/>
          <p:cNvSpPr txBox="1"/>
          <p:nvPr/>
        </p:nvSpPr>
        <p:spPr>
          <a:xfrm>
            <a:off x="548640" y="2331720"/>
            <a:ext cx="10789920" cy="59436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r>
              <a:rPr lang="en-GB" sz="1900" b="0">
                <a:solidFill>
                  <a:srgbClr val="C3D3D0"/>
                </a:solidFill>
                <a:latin typeface="Arial"/>
              </a:rPr>
              <a:t>A controlled, demonstrable foundation for the first office pilot.</a:t>
            </a:r>
            <a:endParaRPr lang="en-GB" sz="1900"/>
          </a:p>
        </p:txBody>
      </p:sp>
      <p:sp>
        <p:nvSpPr>
          <p:cNvPr id="5" name="LexFlow 5"/>
          <p:cNvSpPr txBox="1"/>
          <p:nvPr/>
        </p:nvSpPr>
        <p:spPr>
          <a:xfrm>
            <a:off x="548640" y="3246120"/>
            <a:ext cx="5440680" cy="2468880"/>
          </a:xfrm>
          <a:prstGeom prst="rect">
            <a:avLst/>
          </a:prstGeom>
          <a:solidFill>
            <a:srgbClr val="1E5250"/>
          </a:solidFill>
          <a:ln>
            <a:noFill/>
          </a:ln>
        </p:spPr>
        <p:txBody>
          <a:bodyPr wrap="square" anchor="t" lIns="0" rIns="0" tIns="0" bIns="0"/>
          <a:lstStyle/>
          <a:p>
            <a:r>
              <a:rPr lang="en-GB" sz="1800" b="0">
                <a:solidFill>
                  <a:srgbClr val="142D2C"/>
                </a:solidFill>
                <a:latin typeface="Arial"/>
              </a:rPr>
              <a:t/>
            </a:r>
            <a:endParaRPr lang="en-GB" sz="1800"/>
          </a:p>
        </p:txBody>
      </p:sp>
      <p:sp>
        <p:nvSpPr>
          <p:cNvPr id="6" name="LexFlow 6"/>
          <p:cNvSpPr txBox="1"/>
          <p:nvPr/>
        </p:nvSpPr>
        <p:spPr>
          <a:xfrm>
            <a:off x="768096" y="3493008"/>
            <a:ext cx="4965192" cy="4572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r>
              <a:rPr lang="en-GB" sz="2000" b="1">
                <a:solidFill>
                  <a:srgbClr val="F4E4A1"/>
                </a:solidFill>
                <a:latin typeface="Arial"/>
              </a:rPr>
              <a:t>What you can present today</a:t>
            </a:r>
            <a:endParaRPr lang="en-GB" sz="2000"/>
          </a:p>
        </p:txBody>
      </p:sp>
      <p:sp>
        <p:nvSpPr>
          <p:cNvPr id="7" name="LexFlow 7"/>
          <p:cNvSpPr txBox="1"/>
          <p:nvPr/>
        </p:nvSpPr>
        <p:spPr>
          <a:xfrm>
            <a:off x="768096" y="4023360"/>
            <a:ext cx="4965192" cy="1499616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r>
              <a:rPr lang="en-GB" sz="1700" b="0">
                <a:solidFill>
                  <a:srgbClr val="FFFFFF"/>
                </a:solidFill>
                <a:latin typeface="Arial"/>
              </a:rPr>
              <a:t>A working case from PDF or scan to reviewed data, frozen approval, authenticated HTTP handoff and signed receipt, with PostgreSQL, recovery and extraction evidence.</a:t>
            </a:r>
            <a:endParaRPr lang="en-GB" sz="1700"/>
          </a:p>
        </p:txBody>
      </p:sp>
      <p:sp>
        <p:nvSpPr>
          <p:cNvPr id="8" name="LexFlow 8"/>
          <p:cNvSpPr txBox="1"/>
          <p:nvPr/>
        </p:nvSpPr>
        <p:spPr>
          <a:xfrm>
            <a:off x="6172200" y="3246120"/>
            <a:ext cx="5440680" cy="2468880"/>
          </a:xfrm>
          <a:prstGeom prst="rect">
            <a:avLst/>
          </a:prstGeom>
          <a:solidFill>
            <a:srgbClr val="1E5250"/>
          </a:solidFill>
          <a:ln>
            <a:noFill/>
          </a:ln>
        </p:spPr>
        <p:txBody>
          <a:bodyPr wrap="square" anchor="t" lIns="0" rIns="0" tIns="0" bIns="0"/>
          <a:lstStyle/>
          <a:p>
            <a:r>
              <a:rPr lang="en-GB" sz="1800" b="0">
                <a:solidFill>
                  <a:srgbClr val="142D2C"/>
                </a:solidFill>
                <a:latin typeface="Arial"/>
              </a:rPr>
              <a:t/>
            </a:r>
            <a:endParaRPr lang="en-GB" sz="1800"/>
          </a:p>
        </p:txBody>
      </p:sp>
      <p:sp>
        <p:nvSpPr>
          <p:cNvPr id="9" name="LexFlow 9"/>
          <p:cNvSpPr txBox="1"/>
          <p:nvPr/>
        </p:nvSpPr>
        <p:spPr>
          <a:xfrm>
            <a:off x="6391656" y="3493008"/>
            <a:ext cx="4965192" cy="4572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r>
              <a:rPr lang="en-GB" sz="2000" b="1">
                <a:solidFill>
                  <a:srgbClr val="F4E4A1"/>
                </a:solidFill>
                <a:latin typeface="Arial"/>
              </a:rPr>
              <a:t>What the client supplies next</a:t>
            </a:r>
            <a:endParaRPr lang="en-GB" sz="2000"/>
          </a:p>
        </p:txBody>
      </p:sp>
      <p:sp>
        <p:nvSpPr>
          <p:cNvPr id="10" name="LexFlow 10"/>
          <p:cNvSpPr txBox="1"/>
          <p:nvPr/>
        </p:nvSpPr>
        <p:spPr>
          <a:xfrm>
            <a:off x="6391656" y="4023360"/>
            <a:ext cx="4965192" cy="1499616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r>
              <a:rPr lang="en-GB" sz="1700" b="0">
                <a:solidFill>
                  <a:srgbClr val="FFFFFF"/>
                </a:solidFill>
                <a:latin typeface="Arial"/>
              </a:rPr>
              <a:t>A supported destination interface and test environment, sanitized examples, an accepted deployment boundary and agreed success criteria.</a:t>
            </a:r>
            <a:endParaRPr lang="en-GB" sz="1700"/>
          </a:p>
        </p:txBody>
      </p:sp>
      <p:sp>
        <p:nvSpPr>
          <p:cNvPr id="11" name="LexFlow 11"/>
          <p:cNvSpPr txBox="1"/>
          <p:nvPr/>
        </p:nvSpPr>
        <p:spPr>
          <a:xfrm>
            <a:off x="548640" y="6419088"/>
            <a:ext cx="10789920" cy="219456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r>
              <a:rPr lang="en-GB" sz="900" b="0">
                <a:solidFill>
                  <a:srgbClr val="C3D3D0"/>
                </a:solidFill>
                <a:latin typeface="Arial"/>
              </a:rPr>
              <a:t>ALLGIFT TECHNOLOGIES LTD  /  SYNTHETIC PRESENTATION DEMO  /  23 OCTOBER 2026</a:t>
            </a:r>
            <a:endParaRPr lang="en-GB" sz="900"/>
          </a:p>
        </p:txBody>
      </p:sp>
      <p:sp>
        <p:nvSpPr>
          <p:cNvPr id="12" name="LexFlow 12"/>
          <p:cNvSpPr txBox="1"/>
          <p:nvPr/>
        </p:nvSpPr>
        <p:spPr>
          <a:xfrm>
            <a:off x="11109960" y="6400800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r>
              <a:rPr lang="en-GB" sz="1200" b="1">
                <a:solidFill>
                  <a:srgbClr val="F4E4A1"/>
                </a:solidFill>
                <a:latin typeface="Arial"/>
              </a:rPr>
              <a:t>12</a:t>
            </a:r>
            <a:endParaRPr lang="en-GB" sz="12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