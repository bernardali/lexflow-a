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LexFlow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142D2C"/>
        </a:solidFill>
      </p:bgPr>
    </p:bg>
    <p:spTree>
      <p:nvGrpSpPr>
        <p:cNvPr id="1" name=""/>
        <p:cNvGrpSpPr/>
        <p:nvPr/>
      </p:nvGrpSpPr>
      <p:grpSpPr/>
      <p:sp>
        <p:nvSpPr>
          <p:cNvPr id="2" name="LexFlow 2"/>
          <p:cNvSpPr txBox="1"/>
          <p:nvPr/>
        </p:nvSpPr>
        <p:spPr>
          <a:xfrm>
            <a:off x="530352" y="4572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F4E4A1"/>
                </a:solidFill>
                <a:latin typeface="Arial"/>
              </a:rPr>
              <a:t>LEXFLOW AI / PILOT DEMONSTRATION</a:t>
            </a:r>
            <a:endParaRPr lang="en-GB" sz="1200"/>
          </a:p>
        </p:txBody>
      </p:sp>
      <p:sp>
        <p:nvSpPr>
          <p:cNvPr id="3" name="LexFlow 3"/>
          <p:cNvSpPr txBox="1"/>
          <p:nvPr/>
        </p:nvSpPr>
        <p:spPr>
          <a:xfrm>
            <a:off x="530352" y="1051560"/>
            <a:ext cx="111099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3600" b="1">
                <a:solidFill>
                  <a:srgbClr val="FFFFFF"/>
                </a:solidFill>
                <a:latin typeface="Arial"/>
              </a:rPr>
              <a:t>From documents to an approved handoff</a:t>
            </a:r>
            <a:endParaRPr lang="en-GB" sz="3600"/>
          </a:p>
        </p:txBody>
      </p:sp>
      <p:sp>
        <p:nvSpPr>
          <p:cNvPr id="4" name="LexFlow 4"/>
          <p:cNvSpPr txBox="1"/>
          <p:nvPr/>
        </p:nvSpPr>
        <p:spPr>
          <a:xfrm>
            <a:off x="548640" y="233172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900" b="0">
                <a:solidFill>
                  <a:srgbClr val="C3D3D0"/>
                </a:solidFill>
                <a:latin typeface="Arial"/>
              </a:rPr>
              <a:t>Secure workflow automation for a dedicated notary office</a:t>
            </a:r>
            <a:endParaRPr lang="en-GB" sz="1900"/>
          </a:p>
        </p:txBody>
      </p:sp>
      <p:sp>
        <p:nvSpPr>
          <p:cNvPr id="5" name="LexFlow 5"/>
          <p:cNvSpPr txBox="1"/>
          <p:nvPr/>
        </p:nvSpPr>
        <p:spPr>
          <a:xfrm>
            <a:off x="548640" y="3246120"/>
            <a:ext cx="5440680" cy="2468880"/>
          </a:xfrm>
          <a:prstGeom prst="rect">
            <a:avLst/>
          </a:prstGeom>
          <a:solidFill>
            <a:srgbClr val="1E5250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6" name="LexFlow 6"/>
          <p:cNvSpPr txBox="1"/>
          <p:nvPr/>
        </p:nvSpPr>
        <p:spPr>
          <a:xfrm>
            <a:off x="76809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F4E4A1"/>
                </a:solidFill>
                <a:latin typeface="Arial"/>
              </a:rPr>
              <a:t>The workflow</a:t>
            </a:r>
            <a:endParaRPr lang="en-GB" sz="2000"/>
          </a:p>
        </p:txBody>
      </p:sp>
      <p:sp>
        <p:nvSpPr>
          <p:cNvPr id="7" name="LexFlow 7"/>
          <p:cNvSpPr txBox="1"/>
          <p:nvPr/>
        </p:nvSpPr>
        <p:spPr>
          <a:xfrm>
            <a:off x="76809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FFFFFF"/>
                </a:solidFill>
                <a:latin typeface="Arial"/>
              </a:rPr>
              <a:t>Receive documents. Extract structured values. Resolve uncertainty. Approve a frozen export. Confirm its receipt.</a:t>
            </a:r>
            <a:endParaRPr lang="en-GB" sz="1700"/>
          </a:p>
        </p:txBody>
      </p:sp>
      <p:sp>
        <p:nvSpPr>
          <p:cNvPr id="8" name="LexFlow 8"/>
          <p:cNvSpPr txBox="1"/>
          <p:nvPr/>
        </p:nvSpPr>
        <p:spPr>
          <a:xfrm>
            <a:off x="6172200" y="3246120"/>
            <a:ext cx="5440680" cy="2468880"/>
          </a:xfrm>
          <a:prstGeom prst="rect">
            <a:avLst/>
          </a:prstGeom>
          <a:solidFill>
            <a:srgbClr val="1E5250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9" name="LexFlow 9"/>
          <p:cNvSpPr txBox="1"/>
          <p:nvPr/>
        </p:nvSpPr>
        <p:spPr>
          <a:xfrm>
            <a:off x="639165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F4E4A1"/>
                </a:solidFill>
                <a:latin typeface="Arial"/>
              </a:rPr>
              <a:t>The demonstration</a:t>
            </a:r>
            <a:endParaRPr lang="en-GB" sz="2000"/>
          </a:p>
        </p:txBody>
      </p:sp>
      <p:sp>
        <p:nvSpPr>
          <p:cNvPr id="10" name="LexFlow 10"/>
          <p:cNvSpPr txBox="1"/>
          <p:nvPr/>
        </p:nvSpPr>
        <p:spPr>
          <a:xfrm>
            <a:off x="639165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FFFFFF"/>
                </a:solidFill>
                <a:latin typeface="Arial"/>
              </a:rPr>
              <a:t>One office, synthetic property-purchase documents and an independent reference HTTP destination.</a:t>
            </a:r>
            <a:endParaRPr lang="en-GB" sz="1700"/>
          </a:p>
        </p:txBody>
      </p:sp>
      <p:sp>
        <p:nvSpPr>
          <p:cNvPr id="11" name="LexFlow 11"/>
          <p:cNvSpPr txBox="1"/>
          <p:nvPr/>
        </p:nvSpPr>
        <p:spPr>
          <a:xfrm>
            <a:off x="548640" y="641908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900" b="0">
                <a:solidFill>
                  <a:srgbClr val="C3D3D0"/>
                </a:solidFill>
                <a:latin typeface="Arial"/>
              </a:rPr>
              <a:t>ALLGIFT TECHNOLOGIES LTD  /  SYNTHETIC PRESENTATION DEMO  /  30 OCTOBER 2026</a:t>
            </a:r>
            <a:endParaRPr lang="en-GB" sz="900"/>
          </a:p>
        </p:txBody>
      </p:sp>
      <p:sp>
        <p:nvSpPr>
          <p:cNvPr id="12" name="LexFlow 12"/>
          <p:cNvSpPr txBox="1"/>
          <p:nvPr/>
        </p:nvSpPr>
        <p:spPr>
          <a:xfrm>
            <a:off x="1110996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F4E4A1"/>
                </a:solidFill>
                <a:latin typeface="Arial"/>
              </a:rPr>
              <a:t>01</a:t>
            </a:r>
            <a:endParaRPr lang="en-GB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/>
      <p:sp>
        <p:nvSpPr>
          <p:cNvPr id="2" name="LexFlow 2"/>
          <p:cNvSpPr txBox="1"/>
          <p:nvPr/>
        </p:nvSpPr>
        <p:spPr>
          <a:xfrm>
            <a:off x="530352" y="4572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01 / A CONTAINED FIRST USE CASE</a:t>
            </a:r>
            <a:endParaRPr lang="en-GB" sz="1200"/>
          </a:p>
        </p:txBody>
      </p:sp>
      <p:sp>
        <p:nvSpPr>
          <p:cNvPr id="3" name="LexFlow 3"/>
          <p:cNvSpPr txBox="1"/>
          <p:nvPr/>
        </p:nvSpPr>
        <p:spPr>
          <a:xfrm>
            <a:off x="530352" y="1051560"/>
            <a:ext cx="111099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3600" b="1">
                <a:solidFill>
                  <a:srgbClr val="142D2C"/>
                </a:solidFill>
                <a:latin typeface="Arial"/>
              </a:rPr>
              <a:t>Property purchase intake</a:t>
            </a:r>
            <a:endParaRPr lang="en-GB" sz="3600"/>
          </a:p>
        </p:txBody>
      </p:sp>
      <p:sp>
        <p:nvSpPr>
          <p:cNvPr id="4" name="LexFlow 4"/>
          <p:cNvSpPr txBox="1"/>
          <p:nvPr/>
        </p:nvSpPr>
        <p:spPr>
          <a:xfrm>
            <a:off x="548640" y="233172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900" b="0">
                <a:solidFill>
                  <a:srgbClr val="5D6A67"/>
                </a:solidFill>
                <a:latin typeface="Arial"/>
              </a:rPr>
              <a:t>Prove a complete, reviewable workflow before expanding integrations.</a:t>
            </a:r>
            <a:endParaRPr lang="en-GB" sz="1900"/>
          </a:p>
        </p:txBody>
      </p:sp>
      <p:sp>
        <p:nvSpPr>
          <p:cNvPr id="5" name="LexFlow 5"/>
          <p:cNvSpPr txBox="1"/>
          <p:nvPr/>
        </p:nvSpPr>
        <p:spPr>
          <a:xfrm>
            <a:off x="54864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6" name="LexFlow 6"/>
          <p:cNvSpPr txBox="1"/>
          <p:nvPr/>
        </p:nvSpPr>
        <p:spPr>
          <a:xfrm>
            <a:off x="76809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Inputs and output</a:t>
            </a:r>
            <a:endParaRPr lang="en-GB" sz="2000"/>
          </a:p>
        </p:txBody>
      </p:sp>
      <p:sp>
        <p:nvSpPr>
          <p:cNvPr id="7" name="LexFlow 7"/>
          <p:cNvSpPr txBox="1"/>
          <p:nvPr/>
        </p:nvSpPr>
        <p:spPr>
          <a:xfrm>
            <a:off x="76809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Read PDFs, scans and saved email; review extracted values. Staff can add further parties and properties. Enriched cases use canonical JSON; legacy exports remain available for cases without additional details.</a:t>
            </a:r>
            <a:endParaRPr lang="en-GB" sz="1700"/>
          </a:p>
        </p:txBody>
      </p:sp>
      <p:sp>
        <p:nvSpPr>
          <p:cNvPr id="8" name="LexFlow 8"/>
          <p:cNvSpPr txBox="1"/>
          <p:nvPr/>
        </p:nvSpPr>
        <p:spPr>
          <a:xfrm>
            <a:off x="617220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9" name="LexFlow 9"/>
          <p:cNvSpPr txBox="1"/>
          <p:nvPr/>
        </p:nvSpPr>
        <p:spPr>
          <a:xfrm>
            <a:off x="639165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Scope boundary</a:t>
            </a:r>
            <a:endParaRPr lang="en-GB" sz="2000"/>
          </a:p>
        </p:txBody>
      </p:sp>
      <p:sp>
        <p:nvSpPr>
          <p:cNvPr id="10" name="LexFlow 10"/>
          <p:cNvSpPr txBox="1"/>
          <p:nvPr/>
        </p:nvSpPr>
        <p:spPr>
          <a:xfrm>
            <a:off x="639165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A dedicated-office prototype has PostgreSQL concurrency, HTTP, scanner and restore evidence. Vendor acceptance, client hosting and office measurements remain.</a:t>
            </a:r>
            <a:endParaRPr lang="en-GB" sz="1700"/>
          </a:p>
        </p:txBody>
      </p:sp>
      <p:sp>
        <p:nvSpPr>
          <p:cNvPr id="11" name="LexFlow 11"/>
          <p:cNvSpPr txBox="1"/>
          <p:nvPr/>
        </p:nvSpPr>
        <p:spPr>
          <a:xfrm>
            <a:off x="548640" y="641908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900" b="0">
                <a:solidFill>
                  <a:srgbClr val="5D6A67"/>
                </a:solidFill>
                <a:latin typeface="Arial"/>
              </a:rPr>
              <a:t>ALLGIFT TECHNOLOGIES LTD  /  SYNTHETIC PRESENTATION DEMO  /  30 OCTOBER 2026</a:t>
            </a:r>
            <a:endParaRPr lang="en-GB" sz="900"/>
          </a:p>
        </p:txBody>
      </p:sp>
      <p:sp>
        <p:nvSpPr>
          <p:cNvPr id="12" name="LexFlow 12"/>
          <p:cNvSpPr txBox="1"/>
          <p:nvPr/>
        </p:nvSpPr>
        <p:spPr>
          <a:xfrm>
            <a:off x="1110996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02</a:t>
            </a:r>
            <a:endParaRPr lang="en-GB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/>
      <p:sp>
        <p:nvSpPr>
          <p:cNvPr id="2" name="LexFlow 2"/>
          <p:cNvSpPr txBox="1"/>
          <p:nvPr/>
        </p:nvSpPr>
        <p:spPr>
          <a:xfrm>
            <a:off x="530352" y="4572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02 / THE EMPLOYEE WORKFLOW</a:t>
            </a:r>
            <a:endParaRPr lang="en-GB" sz="1200"/>
          </a:p>
        </p:txBody>
      </p:sp>
      <p:sp>
        <p:nvSpPr>
          <p:cNvPr id="3" name="LexFlow 3"/>
          <p:cNvSpPr txBox="1"/>
          <p:nvPr/>
        </p:nvSpPr>
        <p:spPr>
          <a:xfrm>
            <a:off x="530352" y="1051560"/>
            <a:ext cx="111099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3600" b="1">
                <a:solidFill>
                  <a:srgbClr val="142D2C"/>
                </a:solidFill>
                <a:latin typeface="Arial"/>
              </a:rPr>
              <a:t>Seven visible stages</a:t>
            </a:r>
            <a:endParaRPr lang="en-GB" sz="3600"/>
          </a:p>
        </p:txBody>
      </p:sp>
      <p:sp>
        <p:nvSpPr>
          <p:cNvPr id="4" name="LexFlow 4"/>
          <p:cNvSpPr txBox="1"/>
          <p:nvPr/>
        </p:nvSpPr>
        <p:spPr>
          <a:xfrm>
            <a:off x="548640" y="233172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900" b="0">
                <a:solidFill>
                  <a:srgbClr val="5D6A67"/>
                </a:solidFill>
                <a:latin typeface="Arial"/>
              </a:rPr>
              <a:t>Every consequential decision stays visible to the office.</a:t>
            </a:r>
            <a:endParaRPr lang="en-GB" sz="1900"/>
          </a:p>
        </p:txBody>
      </p:sp>
      <p:sp>
        <p:nvSpPr>
          <p:cNvPr id="5" name="LexFlow 5"/>
          <p:cNvSpPr txBox="1"/>
          <p:nvPr/>
        </p:nvSpPr>
        <p:spPr>
          <a:xfrm>
            <a:off x="54864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6" name="LexFlow 6"/>
          <p:cNvSpPr txBox="1"/>
          <p:nvPr/>
        </p:nvSpPr>
        <p:spPr>
          <a:xfrm>
            <a:off x="76809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Receive &gt; Classify &gt; Extract</a:t>
            </a:r>
            <a:endParaRPr lang="en-GB" sz="2000"/>
          </a:p>
        </p:txBody>
      </p:sp>
      <p:sp>
        <p:nvSpPr>
          <p:cNvPr id="7" name="LexFlow 7"/>
          <p:cNvSpPr txBox="1"/>
          <p:nvPr/>
        </p:nvSpPr>
        <p:spPr>
          <a:xfrm>
            <a:off x="76809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Keep incoming evidence with the case. Identify the workflow and propose values with their source locations.</a:t>
            </a:r>
            <a:endParaRPr lang="en-GB" sz="1700"/>
          </a:p>
        </p:txBody>
      </p:sp>
      <p:sp>
        <p:nvSpPr>
          <p:cNvPr id="8" name="LexFlow 8"/>
          <p:cNvSpPr txBox="1"/>
          <p:nvPr/>
        </p:nvSpPr>
        <p:spPr>
          <a:xfrm>
            <a:off x="617220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9" name="LexFlow 9"/>
          <p:cNvSpPr txBox="1"/>
          <p:nvPr/>
        </p:nvSpPr>
        <p:spPr>
          <a:xfrm>
            <a:off x="639165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Validate &gt; Review &gt; Export &gt; Audit</a:t>
            </a:r>
            <a:endParaRPr lang="en-GB" sz="2000"/>
          </a:p>
        </p:txBody>
      </p:sp>
      <p:sp>
        <p:nvSpPr>
          <p:cNvPr id="10" name="LexFlow 10"/>
          <p:cNvSpPr txBox="1"/>
          <p:nvPr/>
        </p:nvSpPr>
        <p:spPr>
          <a:xfrm>
            <a:off x="639165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Flag conflict and missing information. Require human approval. Record the export and a separate verified receipt.</a:t>
            </a:r>
            <a:endParaRPr lang="en-GB" sz="1700"/>
          </a:p>
        </p:txBody>
      </p:sp>
      <p:sp>
        <p:nvSpPr>
          <p:cNvPr id="11" name="LexFlow 11"/>
          <p:cNvSpPr txBox="1"/>
          <p:nvPr/>
        </p:nvSpPr>
        <p:spPr>
          <a:xfrm>
            <a:off x="548640" y="641908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900" b="0">
                <a:solidFill>
                  <a:srgbClr val="5D6A67"/>
                </a:solidFill>
                <a:latin typeface="Arial"/>
              </a:rPr>
              <a:t>ALLGIFT TECHNOLOGIES LTD  /  SYNTHETIC PRESENTATION DEMO  /  30 OCTOBER 2026</a:t>
            </a:r>
            <a:endParaRPr lang="en-GB" sz="900"/>
          </a:p>
        </p:txBody>
      </p:sp>
      <p:sp>
        <p:nvSpPr>
          <p:cNvPr id="12" name="LexFlow 12"/>
          <p:cNvSpPr txBox="1"/>
          <p:nvPr/>
        </p:nvSpPr>
        <p:spPr>
          <a:xfrm>
            <a:off x="1110996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03</a:t>
            </a:r>
            <a:endParaRPr lang="en-GB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/>
      <p:sp>
        <p:nvSpPr>
          <p:cNvPr id="2" name="LexFlow 2"/>
          <p:cNvSpPr txBox="1"/>
          <p:nvPr/>
        </p:nvSpPr>
        <p:spPr>
          <a:xfrm>
            <a:off x="530352" y="4572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03 / THE FLAGSHIP EXAMPLE</a:t>
            </a:r>
            <a:endParaRPr lang="en-GB" sz="1200"/>
          </a:p>
        </p:txBody>
      </p:sp>
      <p:sp>
        <p:nvSpPr>
          <p:cNvPr id="3" name="LexFlow 3"/>
          <p:cNvSpPr txBox="1"/>
          <p:nvPr/>
        </p:nvSpPr>
        <p:spPr>
          <a:xfrm>
            <a:off x="530352" y="1051560"/>
            <a:ext cx="111099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3600" b="1">
                <a:solidFill>
                  <a:srgbClr val="142D2C"/>
                </a:solidFill>
                <a:latin typeface="Arial"/>
              </a:rPr>
              <a:t>A disagreement the office must resolve</a:t>
            </a:r>
            <a:endParaRPr lang="en-GB" sz="3600"/>
          </a:p>
        </p:txBody>
      </p:sp>
      <p:sp>
        <p:nvSpPr>
          <p:cNvPr id="4" name="LexFlow 4"/>
          <p:cNvSpPr txBox="1"/>
          <p:nvPr/>
        </p:nvSpPr>
        <p:spPr>
          <a:xfrm>
            <a:off x="548640" y="233172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900" b="0">
                <a:solidFill>
                  <a:srgbClr val="5D6A67"/>
                </a:solidFill>
                <a:latin typeface="Arial"/>
              </a:rPr>
              <a:t>Synthetic purchase documents intentionally disagree on the land-register sheet.</a:t>
            </a:r>
            <a:endParaRPr lang="en-GB" sz="1900"/>
          </a:p>
        </p:txBody>
      </p:sp>
      <p:sp>
        <p:nvSpPr>
          <p:cNvPr id="5" name="LexFlow 5"/>
          <p:cNvSpPr txBox="1"/>
          <p:nvPr/>
        </p:nvSpPr>
        <p:spPr>
          <a:xfrm>
            <a:off x="54864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6" name="LexFlow 6"/>
          <p:cNvSpPr txBox="1"/>
          <p:nvPr/>
        </p:nvSpPr>
        <p:spPr>
          <a:xfrm>
            <a:off x="76809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Agreed case data</a:t>
            </a:r>
            <a:endParaRPr lang="en-GB" sz="2000"/>
          </a:p>
        </p:txBody>
      </p:sp>
      <p:sp>
        <p:nvSpPr>
          <p:cNvPr id="7" name="LexFlow 7"/>
          <p:cNvSpPr txBox="1"/>
          <p:nvPr/>
        </p:nvSpPr>
        <p:spPr>
          <a:xfrm>
            <a:off x="76809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Buyer: Anna Schmidt</a:t>
            </a:r>
            <a:endParaRPr lang="en-GB" sz="1700"/>
          </a:p>
          <a:p>
            <a:r>
              <a:rPr lang="en-GB" sz="1700" b="0">
                <a:solidFill>
                  <a:srgbClr val="142D2C"/>
                </a:solidFill>
                <a:latin typeface="Arial"/>
              </a:rPr>
              <a:t>Seller: Peter Müller</a:t>
            </a:r>
            <a:endParaRPr lang="en-GB" sz="1700"/>
          </a:p>
          <a:p>
            <a:r>
              <a:rPr lang="en-GB" sz="1700" b="0">
                <a:solidFill>
                  <a:srgbClr val="142D2C"/>
                </a:solidFill>
                <a:latin typeface="Arial"/>
              </a:rPr>
              <a:t>Purchase price: EUR 850,000</a:t>
            </a:r>
            <a:endParaRPr lang="en-GB" sz="1700"/>
          </a:p>
          <a:p>
            <a:r>
              <a:rPr lang="en-GB" sz="1700" b="0">
                <a:solidFill>
                  <a:srgbClr val="142D2C"/>
                </a:solidFill>
                <a:latin typeface="Arial"/>
              </a:rPr>
              <a:t>Questionnaire and register: München Blatt 812</a:t>
            </a:r>
            <a:endParaRPr lang="en-GB" sz="1700"/>
          </a:p>
        </p:txBody>
      </p:sp>
      <p:sp>
        <p:nvSpPr>
          <p:cNvPr id="8" name="LexFlow 8"/>
          <p:cNvSpPr txBox="1"/>
          <p:nvPr/>
        </p:nvSpPr>
        <p:spPr>
          <a:xfrm>
            <a:off x="617220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9" name="LexFlow 9"/>
          <p:cNvSpPr txBox="1"/>
          <p:nvPr/>
        </p:nvSpPr>
        <p:spPr>
          <a:xfrm>
            <a:off x="639165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A meaningful exception</a:t>
            </a:r>
            <a:endParaRPr lang="en-GB" sz="2000"/>
          </a:p>
        </p:txBody>
      </p:sp>
      <p:sp>
        <p:nvSpPr>
          <p:cNvPr id="10" name="LexFlow 10"/>
          <p:cNvSpPr txBox="1"/>
          <p:nvPr/>
        </p:nvSpPr>
        <p:spPr>
          <a:xfrm>
            <a:off x="639165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The draft contract states Blatt 872. The conflict blocks approval until a reviewer chooses or corrects the value. The price also needs explicit confirmation.</a:t>
            </a:r>
            <a:endParaRPr lang="en-GB" sz="1700"/>
          </a:p>
        </p:txBody>
      </p:sp>
      <p:sp>
        <p:nvSpPr>
          <p:cNvPr id="11" name="LexFlow 11"/>
          <p:cNvSpPr txBox="1"/>
          <p:nvPr/>
        </p:nvSpPr>
        <p:spPr>
          <a:xfrm>
            <a:off x="548640" y="641908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900" b="0">
                <a:solidFill>
                  <a:srgbClr val="5D6A67"/>
                </a:solidFill>
                <a:latin typeface="Arial"/>
              </a:rPr>
              <a:t>ALLGIFT TECHNOLOGIES LTD  /  SYNTHETIC PRESENTATION DEMO  /  30 OCTOBER 2026</a:t>
            </a:r>
            <a:endParaRPr lang="en-GB" sz="900"/>
          </a:p>
        </p:txBody>
      </p:sp>
      <p:sp>
        <p:nvSpPr>
          <p:cNvPr id="12" name="LexFlow 12"/>
          <p:cNvSpPr txBox="1"/>
          <p:nvPr/>
        </p:nvSpPr>
        <p:spPr>
          <a:xfrm>
            <a:off x="1110996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04</a:t>
            </a:r>
            <a:endParaRPr lang="en-GB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/>
      <p:sp>
        <p:nvSpPr>
          <p:cNvPr id="2" name="LexFlow 2"/>
          <p:cNvSpPr txBox="1"/>
          <p:nvPr/>
        </p:nvSpPr>
        <p:spPr>
          <a:xfrm>
            <a:off x="530352" y="4572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04 / HUMAN CONTROL</a:t>
            </a:r>
            <a:endParaRPr lang="en-GB" sz="1200"/>
          </a:p>
        </p:txBody>
      </p:sp>
      <p:sp>
        <p:nvSpPr>
          <p:cNvPr id="3" name="LexFlow 3"/>
          <p:cNvSpPr txBox="1"/>
          <p:nvPr/>
        </p:nvSpPr>
        <p:spPr>
          <a:xfrm>
            <a:off x="530352" y="1051560"/>
            <a:ext cx="111099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3600" b="1">
                <a:solidFill>
                  <a:srgbClr val="142D2C"/>
                </a:solidFill>
                <a:latin typeface="Arial"/>
              </a:rPr>
              <a:t>Review first. Freeze the decision.</a:t>
            </a:r>
            <a:endParaRPr lang="en-GB" sz="3600"/>
          </a:p>
        </p:txBody>
      </p:sp>
      <p:sp>
        <p:nvSpPr>
          <p:cNvPr id="4" name="LexFlow 4"/>
          <p:cNvSpPr txBox="1"/>
          <p:nvPr/>
        </p:nvSpPr>
        <p:spPr>
          <a:xfrm>
            <a:off x="548640" y="233172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900" b="0">
                <a:solidFill>
                  <a:srgbClr val="5D6A67"/>
                </a:solidFill>
                <a:latin typeface="Arial"/>
              </a:rPr>
              <a:t>Confidence supports review; it does not authorize a destination write.</a:t>
            </a:r>
            <a:endParaRPr lang="en-GB" sz="1900"/>
          </a:p>
        </p:txBody>
      </p:sp>
      <p:sp>
        <p:nvSpPr>
          <p:cNvPr id="5" name="LexFlow 5"/>
          <p:cNvSpPr txBox="1"/>
          <p:nvPr/>
        </p:nvSpPr>
        <p:spPr>
          <a:xfrm>
            <a:off x="54864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6" name="LexFlow 6"/>
          <p:cNvSpPr txBox="1"/>
          <p:nvPr/>
        </p:nvSpPr>
        <p:spPr>
          <a:xfrm>
            <a:off x="76809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The clerk</a:t>
            </a:r>
            <a:endParaRPr lang="en-GB" sz="2000"/>
          </a:p>
        </p:txBody>
      </p:sp>
      <p:sp>
        <p:nvSpPr>
          <p:cNvPr id="7" name="LexFlow 7"/>
          <p:cNvSpPr txBox="1"/>
          <p:nvPr/>
        </p:nvSpPr>
        <p:spPr>
          <a:xfrm>
            <a:off x="76809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Compare sources, correct values and confirm required policy fields. Source selections update case data. Reusable labels and mappings are edited separately by an administrator.</a:t>
            </a:r>
            <a:endParaRPr lang="en-GB" sz="1700"/>
          </a:p>
        </p:txBody>
      </p:sp>
      <p:sp>
        <p:nvSpPr>
          <p:cNvPr id="8" name="LexFlow 8"/>
          <p:cNvSpPr txBox="1"/>
          <p:nvPr/>
        </p:nvSpPr>
        <p:spPr>
          <a:xfrm>
            <a:off x="617220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9" name="LexFlow 9"/>
          <p:cNvSpPr txBox="1"/>
          <p:nvPr/>
        </p:nvSpPr>
        <p:spPr>
          <a:xfrm>
            <a:off x="639165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The approver</a:t>
            </a:r>
            <a:endParaRPr lang="en-GB" sz="2000"/>
          </a:p>
        </p:txBody>
      </p:sp>
      <p:sp>
        <p:nvSpPr>
          <p:cNvPr id="10" name="LexFlow 10"/>
          <p:cNvSpPr txBox="1"/>
          <p:nvPr/>
        </p:nvSpPr>
        <p:spPr>
          <a:xfrm>
            <a:off x="639165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Approve only after all blockers are resolved. The snapshot freezes values, mappings and approval identity. Stale edits cannot undo that approval.</a:t>
            </a:r>
            <a:endParaRPr lang="en-GB" sz="1700"/>
          </a:p>
        </p:txBody>
      </p:sp>
      <p:sp>
        <p:nvSpPr>
          <p:cNvPr id="11" name="LexFlow 11"/>
          <p:cNvSpPr txBox="1"/>
          <p:nvPr/>
        </p:nvSpPr>
        <p:spPr>
          <a:xfrm>
            <a:off x="548640" y="641908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900" b="0">
                <a:solidFill>
                  <a:srgbClr val="5D6A67"/>
                </a:solidFill>
                <a:latin typeface="Arial"/>
              </a:rPr>
              <a:t>ALLGIFT TECHNOLOGIES LTD  /  SYNTHETIC PRESENTATION DEMO  /  30 OCTOBER 2026</a:t>
            </a:r>
            <a:endParaRPr lang="en-GB" sz="900"/>
          </a:p>
        </p:txBody>
      </p:sp>
      <p:sp>
        <p:nvSpPr>
          <p:cNvPr id="12" name="LexFlow 12"/>
          <p:cNvSpPr txBox="1"/>
          <p:nvPr/>
        </p:nvSpPr>
        <p:spPr>
          <a:xfrm>
            <a:off x="1110996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05</a:t>
            </a:r>
            <a:endParaRPr lang="en-GB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/>
      <p:sp>
        <p:nvSpPr>
          <p:cNvPr id="2" name="LexFlow 2"/>
          <p:cNvSpPr txBox="1"/>
          <p:nvPr/>
        </p:nvSpPr>
        <p:spPr>
          <a:xfrm>
            <a:off x="530352" y="4572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05 / A TRUTHFUL HANDOFF</a:t>
            </a:r>
            <a:endParaRPr lang="en-GB" sz="1200"/>
          </a:p>
        </p:txBody>
      </p:sp>
      <p:sp>
        <p:nvSpPr>
          <p:cNvPr id="3" name="LexFlow 3"/>
          <p:cNvSpPr txBox="1"/>
          <p:nvPr/>
        </p:nvSpPr>
        <p:spPr>
          <a:xfrm>
            <a:off x="530352" y="1051560"/>
            <a:ext cx="111099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3600" b="1">
                <a:solidFill>
                  <a:srgbClr val="142D2C"/>
                </a:solidFill>
                <a:latin typeface="Arial"/>
              </a:rPr>
              <a:t>A signed receipt proves the handoff</a:t>
            </a:r>
            <a:endParaRPr lang="en-GB" sz="3600"/>
          </a:p>
        </p:txBody>
      </p:sp>
      <p:sp>
        <p:nvSpPr>
          <p:cNvPr id="4" name="LexFlow 4"/>
          <p:cNvSpPr txBox="1"/>
          <p:nvPr/>
        </p:nvSpPr>
        <p:spPr>
          <a:xfrm>
            <a:off x="548640" y="233172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900" b="0">
                <a:solidFill>
                  <a:srgbClr val="5D6A67"/>
                </a:solidFill>
                <a:latin typeface="Arial"/>
              </a:rPr>
              <a:t>Actual HTTP transport to an independent reference destination; vendor acceptance remains separate.</a:t>
            </a:r>
            <a:endParaRPr lang="en-GB" sz="1900"/>
          </a:p>
        </p:txBody>
      </p:sp>
      <p:sp>
        <p:nvSpPr>
          <p:cNvPr id="5" name="LexFlow 5"/>
          <p:cNvSpPr txBox="1"/>
          <p:nvPr/>
        </p:nvSpPr>
        <p:spPr>
          <a:xfrm>
            <a:off x="54864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6" name="LexFlow 6"/>
          <p:cNvSpPr txBox="1"/>
          <p:nvPr/>
        </p:nvSpPr>
        <p:spPr>
          <a:xfrm>
            <a:off x="76809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Create the approved export</a:t>
            </a:r>
            <a:endParaRPr lang="en-GB" sz="2000"/>
          </a:p>
        </p:txBody>
      </p:sp>
      <p:sp>
        <p:nvSpPr>
          <p:cNvPr id="7" name="LexFlow 7"/>
          <p:cNvSpPr txBox="1"/>
          <p:nvPr/>
        </p:nvSpPr>
        <p:spPr>
          <a:xfrm>
            <a:off x="76809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Generate a checksummed payload from the frozen approval. Export a file or send authenticated JSON. Repeated requests reuse the same approval-bound idempotency key.</a:t>
            </a:r>
            <a:endParaRPr lang="en-GB" sz="1700"/>
          </a:p>
        </p:txBody>
      </p:sp>
      <p:sp>
        <p:nvSpPr>
          <p:cNvPr id="8" name="LexFlow 8"/>
          <p:cNvSpPr txBox="1"/>
          <p:nvPr/>
        </p:nvSpPr>
        <p:spPr>
          <a:xfrm>
            <a:off x="617220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9" name="LexFlow 9"/>
          <p:cNvSpPr txBox="1"/>
          <p:nvPr/>
        </p:nvSpPr>
        <p:spPr>
          <a:xfrm>
            <a:off x="639165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Confirm the destination</a:t>
            </a:r>
            <a:endParaRPr lang="en-GB" sz="2000"/>
          </a:p>
        </p:txBody>
      </p:sp>
      <p:sp>
        <p:nvSpPr>
          <p:cNvPr id="10" name="LexFlow 10"/>
          <p:cNvSpPr txBox="1"/>
          <p:nvPr/>
        </p:nvSpPr>
        <p:spPr>
          <a:xfrm>
            <a:off x="639165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The HTTP receiver commits the payload before returning a signed receipt. Wrong keys or receipts keep delivery pending. A lost-response retry retrieves the original receipt without a duplicate import.</a:t>
            </a:r>
            <a:endParaRPr lang="en-GB" sz="1700"/>
          </a:p>
        </p:txBody>
      </p:sp>
      <p:sp>
        <p:nvSpPr>
          <p:cNvPr id="11" name="LexFlow 11"/>
          <p:cNvSpPr txBox="1"/>
          <p:nvPr/>
        </p:nvSpPr>
        <p:spPr>
          <a:xfrm>
            <a:off x="548640" y="641908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900" b="0">
                <a:solidFill>
                  <a:srgbClr val="5D6A67"/>
                </a:solidFill>
                <a:latin typeface="Arial"/>
              </a:rPr>
              <a:t>ALLGIFT TECHNOLOGIES LTD  /  SYNTHETIC PRESENTATION DEMO  /  30 OCTOBER 2026</a:t>
            </a:r>
            <a:endParaRPr lang="en-GB" sz="900"/>
          </a:p>
        </p:txBody>
      </p:sp>
      <p:sp>
        <p:nvSpPr>
          <p:cNvPr id="12" name="LexFlow 12"/>
          <p:cNvSpPr txBox="1"/>
          <p:nvPr/>
        </p:nvSpPr>
        <p:spPr>
          <a:xfrm>
            <a:off x="1110996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06</a:t>
            </a:r>
            <a:endParaRPr lang="en-GB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/>
      <p:sp>
        <p:nvSpPr>
          <p:cNvPr id="2" name="LexFlow 2"/>
          <p:cNvSpPr txBox="1"/>
          <p:nvPr/>
        </p:nvSpPr>
        <p:spPr>
          <a:xfrm>
            <a:off x="530352" y="4572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06 / PROTECTION IN THE BUILD</a:t>
            </a:r>
            <a:endParaRPr lang="en-GB" sz="1200"/>
          </a:p>
        </p:txBody>
      </p:sp>
      <p:sp>
        <p:nvSpPr>
          <p:cNvPr id="3" name="LexFlow 3"/>
          <p:cNvSpPr txBox="1"/>
          <p:nvPr/>
        </p:nvSpPr>
        <p:spPr>
          <a:xfrm>
            <a:off x="530352" y="1051560"/>
            <a:ext cx="111099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3600" b="1">
                <a:solidFill>
                  <a:srgbClr val="142D2C"/>
                </a:solidFill>
                <a:latin typeface="Arial"/>
              </a:rPr>
              <a:t>Controls that can be demonstrated</a:t>
            </a:r>
            <a:endParaRPr lang="en-GB" sz="3600"/>
          </a:p>
        </p:txBody>
      </p:sp>
      <p:sp>
        <p:nvSpPr>
          <p:cNvPr id="4" name="LexFlow 4"/>
          <p:cNvSpPr txBox="1"/>
          <p:nvPr/>
        </p:nvSpPr>
        <p:spPr>
          <a:xfrm>
            <a:off x="548640" y="233172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900" b="0">
                <a:solidFill>
                  <a:srgbClr val="5D6A67"/>
                </a:solidFill>
                <a:latin typeface="Arial"/>
              </a:rPr>
              <a:t>Show the controls and their practical limits.</a:t>
            </a:r>
            <a:endParaRPr lang="en-GB" sz="1900"/>
          </a:p>
        </p:txBody>
      </p:sp>
      <p:sp>
        <p:nvSpPr>
          <p:cNvPr id="5" name="LexFlow 5"/>
          <p:cNvSpPr txBox="1"/>
          <p:nvPr/>
        </p:nvSpPr>
        <p:spPr>
          <a:xfrm>
            <a:off x="54864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6" name="LexFlow 6"/>
          <p:cNvSpPr txBox="1"/>
          <p:nvPr/>
        </p:nvSpPr>
        <p:spPr>
          <a:xfrm>
            <a:off x="76809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Confidentiality and approval</a:t>
            </a:r>
            <a:endParaRPr lang="en-GB" sz="2000"/>
          </a:p>
        </p:txBody>
      </p:sp>
      <p:sp>
        <p:nvSpPr>
          <p:cNvPr id="7" name="LexFlow 7"/>
          <p:cNvSpPr txBox="1"/>
          <p:nvPr/>
        </p:nvSpPr>
        <p:spPr>
          <a:xfrm>
            <a:off x="76809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Per-office encryption covers source files, source text, structured case values, revisions and audit metadata. Production refuses development secrets. Review and approval share a locking protocol.</a:t>
            </a:r>
            <a:endParaRPr lang="en-GB" sz="1700"/>
          </a:p>
        </p:txBody>
      </p:sp>
      <p:sp>
        <p:nvSpPr>
          <p:cNvPr id="8" name="LexFlow 8"/>
          <p:cNvSpPr txBox="1"/>
          <p:nvPr/>
        </p:nvSpPr>
        <p:spPr>
          <a:xfrm>
            <a:off x="617220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9" name="LexFlow 9"/>
          <p:cNvSpPr txBox="1"/>
          <p:nvPr/>
        </p:nvSpPr>
        <p:spPr>
          <a:xfrm>
            <a:off x="639165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Traceability and retention</a:t>
            </a:r>
            <a:endParaRPr lang="en-GB" sz="2000"/>
          </a:p>
        </p:txBody>
      </p:sp>
      <p:sp>
        <p:nvSpPr>
          <p:cNvPr id="10" name="LexFlow 10"/>
          <p:cNvSpPr txBox="1"/>
          <p:nvPr/>
        </p:nvSpPr>
        <p:spPr>
          <a:xfrm>
            <a:off x="639165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Audit events have a signed hash chain. Separately held checkpoints detect an older database replay. Encrypted backups restore sources, private fields, approvals and export evidence.</a:t>
            </a:r>
            <a:endParaRPr lang="en-GB" sz="1700"/>
          </a:p>
        </p:txBody>
      </p:sp>
      <p:sp>
        <p:nvSpPr>
          <p:cNvPr id="11" name="LexFlow 11"/>
          <p:cNvSpPr txBox="1"/>
          <p:nvPr/>
        </p:nvSpPr>
        <p:spPr>
          <a:xfrm>
            <a:off x="548640" y="641908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900" b="0">
                <a:solidFill>
                  <a:srgbClr val="5D6A67"/>
                </a:solidFill>
                <a:latin typeface="Arial"/>
              </a:rPr>
              <a:t>ALLGIFT TECHNOLOGIES LTD  /  SYNTHETIC PRESENTATION DEMO  /  30 OCTOBER 2026</a:t>
            </a:r>
            <a:endParaRPr lang="en-GB" sz="900"/>
          </a:p>
        </p:txBody>
      </p:sp>
      <p:sp>
        <p:nvSpPr>
          <p:cNvPr id="12" name="LexFlow 12"/>
          <p:cNvSpPr txBox="1"/>
          <p:nvPr/>
        </p:nvSpPr>
        <p:spPr>
          <a:xfrm>
            <a:off x="1110996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07</a:t>
            </a:r>
            <a:endParaRPr lang="en-GB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/>
      <p:sp>
        <p:nvSpPr>
          <p:cNvPr id="2" name="LexFlow 2"/>
          <p:cNvSpPr txBox="1"/>
          <p:nvPr/>
        </p:nvSpPr>
        <p:spPr>
          <a:xfrm>
            <a:off x="530352" y="4572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07 / ONE OFFICE, ONE DEPLOYMENT</a:t>
            </a:r>
            <a:endParaRPr lang="en-GB" sz="1200"/>
          </a:p>
        </p:txBody>
      </p:sp>
      <p:sp>
        <p:nvSpPr>
          <p:cNvPr id="3" name="LexFlow 3"/>
          <p:cNvSpPr txBox="1"/>
          <p:nvPr/>
        </p:nvSpPr>
        <p:spPr>
          <a:xfrm>
            <a:off x="530352" y="1051560"/>
            <a:ext cx="111099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3600" b="1">
                <a:solidFill>
                  <a:srgbClr val="142D2C"/>
                </a:solidFill>
                <a:latin typeface="Arial"/>
              </a:rPr>
              <a:t>A dedicated pilot boundary</a:t>
            </a:r>
            <a:endParaRPr lang="en-GB" sz="3600"/>
          </a:p>
        </p:txBody>
      </p:sp>
      <p:sp>
        <p:nvSpPr>
          <p:cNvPr id="4" name="LexFlow 4"/>
          <p:cNvSpPr txBox="1"/>
          <p:nvPr/>
        </p:nvSpPr>
        <p:spPr>
          <a:xfrm>
            <a:off x="548640" y="233172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900" b="0">
                <a:solidFill>
                  <a:srgbClr val="5D6A67"/>
                </a:solidFill>
                <a:latin typeface="Arial"/>
              </a:rPr>
              <a:t>Prepare separate database, storage and keys for each office.</a:t>
            </a:r>
            <a:endParaRPr lang="en-GB" sz="1900"/>
          </a:p>
        </p:txBody>
      </p:sp>
      <p:sp>
        <p:nvSpPr>
          <p:cNvPr id="5" name="LexFlow 5"/>
          <p:cNvSpPr txBox="1"/>
          <p:nvPr/>
        </p:nvSpPr>
        <p:spPr>
          <a:xfrm>
            <a:off x="54864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6" name="LexFlow 6"/>
          <p:cNvSpPr txBox="1"/>
          <p:nvPr/>
        </p:nvSpPr>
        <p:spPr>
          <a:xfrm>
            <a:off x="76809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Presentation environment</a:t>
            </a:r>
            <a:endParaRPr lang="en-GB" sz="2000"/>
          </a:p>
        </p:txBody>
      </p:sp>
      <p:sp>
        <p:nvSpPr>
          <p:cNvPr id="7" name="LexFlow 7"/>
          <p:cNvSpPr txBox="1"/>
          <p:nvPr/>
        </p:nvSpPr>
        <p:spPr>
          <a:xfrm>
            <a:off x="76809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The launcher creates one office, a separate database, vault and keys. Local OCR reads scans; original-source review remains mandatory. A remote scanner/email client uses only the intake API.</a:t>
            </a:r>
            <a:endParaRPr lang="en-GB" sz="1700"/>
          </a:p>
        </p:txBody>
      </p:sp>
      <p:sp>
        <p:nvSpPr>
          <p:cNvPr id="8" name="LexFlow 8"/>
          <p:cNvSpPr txBox="1"/>
          <p:nvPr/>
        </p:nvSpPr>
        <p:spPr>
          <a:xfrm>
            <a:off x="617220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9" name="LexFlow 9"/>
          <p:cNvSpPr txBox="1"/>
          <p:nvPr/>
        </p:nvSpPr>
        <p:spPr>
          <a:xfrm>
            <a:off x="639165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Deployment package</a:t>
            </a:r>
            <a:endParaRPr lang="en-GB" sz="2000"/>
          </a:p>
        </p:txBody>
      </p:sp>
      <p:sp>
        <p:nvSpPr>
          <p:cNvPr id="10" name="LexFlow 10"/>
          <p:cNvSpPr txBox="1"/>
          <p:nvPr/>
        </p:nvSpPr>
        <p:spPr>
          <a:xfrm>
            <a:off x="639165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Concurrency and complete encrypted restore passed on local PostgreSQL. A dedicated HTTPS stack is supplied. Its container build, client hosting, TLS and operational recovery still need validation.</a:t>
            </a:r>
            <a:endParaRPr lang="en-GB" sz="1700"/>
          </a:p>
        </p:txBody>
      </p:sp>
      <p:sp>
        <p:nvSpPr>
          <p:cNvPr id="11" name="LexFlow 11"/>
          <p:cNvSpPr txBox="1"/>
          <p:nvPr/>
        </p:nvSpPr>
        <p:spPr>
          <a:xfrm>
            <a:off x="548640" y="641908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900" b="0">
                <a:solidFill>
                  <a:srgbClr val="5D6A67"/>
                </a:solidFill>
                <a:latin typeface="Arial"/>
              </a:rPr>
              <a:t>ALLGIFT TECHNOLOGIES LTD  /  SYNTHETIC PRESENTATION DEMO  /  30 OCTOBER 2026</a:t>
            </a:r>
            <a:endParaRPr lang="en-GB" sz="900"/>
          </a:p>
        </p:txBody>
      </p:sp>
      <p:sp>
        <p:nvSpPr>
          <p:cNvPr id="12" name="LexFlow 12"/>
          <p:cNvSpPr txBox="1"/>
          <p:nvPr/>
        </p:nvSpPr>
        <p:spPr>
          <a:xfrm>
            <a:off x="1110996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08</a:t>
            </a:r>
            <a:endParaRPr lang="en-GB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/>
      <p:sp>
        <p:nvSpPr>
          <p:cNvPr id="2" name="LexFlow 2"/>
          <p:cNvSpPr txBox="1"/>
          <p:nvPr/>
        </p:nvSpPr>
        <p:spPr>
          <a:xfrm>
            <a:off x="530352" y="4572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08 / PILOT EVIDENCE</a:t>
            </a:r>
            <a:endParaRPr lang="en-GB" sz="1200"/>
          </a:p>
        </p:txBody>
      </p:sp>
      <p:sp>
        <p:nvSpPr>
          <p:cNvPr id="3" name="LexFlow 3"/>
          <p:cNvSpPr txBox="1"/>
          <p:nvPr/>
        </p:nvSpPr>
        <p:spPr>
          <a:xfrm>
            <a:off x="530352" y="1051560"/>
            <a:ext cx="111099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3600" b="1">
                <a:solidFill>
                  <a:srgbClr val="142D2C"/>
                </a:solidFill>
                <a:latin typeface="Arial"/>
              </a:rPr>
              <a:t>Measure results without mixing demo data</a:t>
            </a:r>
            <a:endParaRPr lang="en-GB" sz="3600"/>
          </a:p>
        </p:txBody>
      </p:sp>
      <p:sp>
        <p:nvSpPr>
          <p:cNvPr id="4" name="LexFlow 4"/>
          <p:cNvSpPr txBox="1"/>
          <p:nvPr/>
        </p:nvSpPr>
        <p:spPr>
          <a:xfrm>
            <a:off x="548640" y="233172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900" b="0">
                <a:solidFill>
                  <a:srgbClr val="5D6A67"/>
                </a:solidFill>
                <a:latin typeface="Arial"/>
              </a:rPr>
              <a:t>Demonstration history is clearly labelled and excluded from live-pilot measurements.</a:t>
            </a:r>
            <a:endParaRPr lang="en-GB" sz="1900"/>
          </a:p>
        </p:txBody>
      </p:sp>
      <p:sp>
        <p:nvSpPr>
          <p:cNvPr id="5" name="LexFlow 5"/>
          <p:cNvSpPr txBox="1"/>
          <p:nvPr/>
        </p:nvSpPr>
        <p:spPr>
          <a:xfrm>
            <a:off x="54864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6" name="LexFlow 6"/>
          <p:cNvSpPr txBox="1"/>
          <p:nvPr/>
        </p:nvSpPr>
        <p:spPr>
          <a:xfrm>
            <a:off x="76809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Four analytics tabs</a:t>
            </a:r>
            <a:endParaRPr lang="en-GB" sz="2000"/>
          </a:p>
        </p:txBody>
      </p:sp>
      <p:sp>
        <p:nvSpPr>
          <p:cNvPr id="7" name="LexFlow 7"/>
          <p:cNvSpPr txBox="1"/>
          <p:nvPr/>
        </p:nvSpPr>
        <p:spPr>
          <a:xfrm>
            <a:off x="76809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Filter by intake receipt period, workflow, source and demo/live cohort. Inspect extraction and review, workload and median/P90 timing, delivery and audit. Charts have exact-value tables, case links and aggregate CSV export.</a:t>
            </a:r>
            <a:endParaRPr lang="en-GB" sz="1700"/>
          </a:p>
        </p:txBody>
      </p:sp>
      <p:sp>
        <p:nvSpPr>
          <p:cNvPr id="8" name="LexFlow 8"/>
          <p:cNvSpPr txBox="1"/>
          <p:nvPr/>
        </p:nvSpPr>
        <p:spPr>
          <a:xfrm>
            <a:off x="617220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9" name="LexFlow 9"/>
          <p:cNvSpPr txBox="1"/>
          <p:nvPr/>
        </p:nvSpPr>
        <p:spPr>
          <a:xfrm>
            <a:off x="639165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Compare the right measures</a:t>
            </a:r>
            <a:endParaRPr lang="en-GB" sz="2000"/>
          </a:p>
        </p:txBody>
      </p:sp>
      <p:sp>
        <p:nvSpPr>
          <p:cNvPr id="10" name="LexFlow 10"/>
          <p:cNvSpPr txBox="1"/>
          <p:nvPr/>
        </p:nvSpPr>
        <p:spPr>
          <a:xfrm>
            <a:off x="639165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First-extraction coverage differs from human-completed fields. Elapsed approval time includes waiting; staff handling time and re-keying errors need separate office measurements. Synthetic checks do not establish customer accuracy or savings.</a:t>
            </a:r>
            <a:endParaRPr lang="en-GB" sz="1700"/>
          </a:p>
        </p:txBody>
      </p:sp>
      <p:sp>
        <p:nvSpPr>
          <p:cNvPr id="11" name="LexFlow 11"/>
          <p:cNvSpPr txBox="1"/>
          <p:nvPr/>
        </p:nvSpPr>
        <p:spPr>
          <a:xfrm>
            <a:off x="548640" y="641908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900" b="0">
                <a:solidFill>
                  <a:srgbClr val="5D6A67"/>
                </a:solidFill>
                <a:latin typeface="Arial"/>
              </a:rPr>
              <a:t>ALLGIFT TECHNOLOGIES LTD  /  SYNTHETIC PRESENTATION DEMO  /  30 OCTOBER 2026</a:t>
            </a:r>
            <a:endParaRPr lang="en-GB" sz="900"/>
          </a:p>
        </p:txBody>
      </p:sp>
      <p:sp>
        <p:nvSpPr>
          <p:cNvPr id="12" name="LexFlow 12"/>
          <p:cNvSpPr txBox="1"/>
          <p:nvPr/>
        </p:nvSpPr>
        <p:spPr>
          <a:xfrm>
            <a:off x="1110996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09</a:t>
            </a:r>
            <a:endParaRPr lang="en-GB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/>
      <p:sp>
        <p:nvSpPr>
          <p:cNvPr id="2" name="LexFlow 2"/>
          <p:cNvSpPr txBox="1"/>
          <p:nvPr/>
        </p:nvSpPr>
        <p:spPr>
          <a:xfrm>
            <a:off x="530352" y="4572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09 / LIVE DEMONSTRATION</a:t>
            </a:r>
            <a:endParaRPr lang="en-GB" sz="1200"/>
          </a:p>
        </p:txBody>
      </p:sp>
      <p:sp>
        <p:nvSpPr>
          <p:cNvPr id="3" name="LexFlow 3"/>
          <p:cNvSpPr txBox="1"/>
          <p:nvPr/>
        </p:nvSpPr>
        <p:spPr>
          <a:xfrm>
            <a:off x="530352" y="1051560"/>
            <a:ext cx="111099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3600" b="1">
                <a:solidFill>
                  <a:srgbClr val="142D2C"/>
                </a:solidFill>
                <a:latin typeface="Arial"/>
              </a:rPr>
              <a:t>A seven-minute walkthrough</a:t>
            </a:r>
            <a:endParaRPr lang="en-GB" sz="3600"/>
          </a:p>
        </p:txBody>
      </p:sp>
      <p:sp>
        <p:nvSpPr>
          <p:cNvPr id="4" name="LexFlow 4"/>
          <p:cNvSpPr txBox="1"/>
          <p:nvPr/>
        </p:nvSpPr>
        <p:spPr>
          <a:xfrm>
            <a:off x="548640" y="233172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900" b="0">
                <a:solidFill>
                  <a:srgbClr val="5D6A67"/>
                </a:solidFill>
                <a:latin typeface="Arial"/>
              </a:rPr>
              <a:t>Use /presentation/ as your presenter guide.</a:t>
            </a:r>
            <a:endParaRPr lang="en-GB" sz="1900"/>
          </a:p>
        </p:txBody>
      </p:sp>
      <p:sp>
        <p:nvSpPr>
          <p:cNvPr id="5" name="LexFlow 5"/>
          <p:cNvSpPr txBox="1"/>
          <p:nvPr/>
        </p:nvSpPr>
        <p:spPr>
          <a:xfrm>
            <a:off x="54864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6" name="LexFlow 6"/>
          <p:cNvSpPr txBox="1"/>
          <p:nvPr/>
        </p:nvSpPr>
        <p:spPr>
          <a:xfrm>
            <a:off x="76809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Minutes 1–4</a:t>
            </a:r>
            <a:endParaRPr lang="en-GB" sz="2000"/>
          </a:p>
        </p:txBody>
      </p:sp>
      <p:sp>
        <p:nvSpPr>
          <p:cNvPr id="7" name="LexFlow 7"/>
          <p:cNvSpPr txBox="1"/>
          <p:nvPr/>
        </p:nvSpPr>
        <p:spPr>
          <a:xfrm>
            <a:off x="76809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Open the unprocessed intake. Process the documents. Show the Blatt 812 / 872 conflict. Resolve the source choice and confirm the price as the clerk.</a:t>
            </a:r>
            <a:endParaRPr lang="en-GB" sz="1700"/>
          </a:p>
        </p:txBody>
      </p:sp>
      <p:sp>
        <p:nvSpPr>
          <p:cNvPr id="8" name="LexFlow 8"/>
          <p:cNvSpPr txBox="1"/>
          <p:nvPr/>
        </p:nvSpPr>
        <p:spPr>
          <a:xfrm>
            <a:off x="617220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9" name="LexFlow 9"/>
          <p:cNvSpPr txBox="1"/>
          <p:nvPr/>
        </p:nvSpPr>
        <p:spPr>
          <a:xfrm>
            <a:off x="639165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Minutes 5–7</a:t>
            </a:r>
            <a:endParaRPr lang="en-GB" sz="2000"/>
          </a:p>
        </p:txBody>
      </p:sp>
      <p:sp>
        <p:nvSpPr>
          <p:cNvPr id="10" name="LexFlow 10"/>
          <p:cNvSpPr txBox="1"/>
          <p:nvPr/>
        </p:nvSpPr>
        <p:spPr>
          <a:xfrm>
            <a:off x="639165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Sign in as the notary. Approve, create the HTTP export and send it. Show its verified receipt and audit trail. Optionally demonstrate scanned intake and mandatory source review.</a:t>
            </a:r>
            <a:endParaRPr lang="en-GB" sz="1700"/>
          </a:p>
        </p:txBody>
      </p:sp>
      <p:sp>
        <p:nvSpPr>
          <p:cNvPr id="11" name="LexFlow 11"/>
          <p:cNvSpPr txBox="1"/>
          <p:nvPr/>
        </p:nvSpPr>
        <p:spPr>
          <a:xfrm>
            <a:off x="548640" y="641908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900" b="0">
                <a:solidFill>
                  <a:srgbClr val="5D6A67"/>
                </a:solidFill>
                <a:latin typeface="Arial"/>
              </a:rPr>
              <a:t>ALLGIFT TECHNOLOGIES LTD  /  SYNTHETIC PRESENTATION DEMO  /  30 OCTOBER 2026</a:t>
            </a:r>
            <a:endParaRPr lang="en-GB" sz="900"/>
          </a:p>
        </p:txBody>
      </p:sp>
      <p:sp>
        <p:nvSpPr>
          <p:cNvPr id="12" name="LexFlow 12"/>
          <p:cNvSpPr txBox="1"/>
          <p:nvPr/>
        </p:nvSpPr>
        <p:spPr>
          <a:xfrm>
            <a:off x="1110996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10</a:t>
            </a:r>
            <a:endParaRPr lang="en-GB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/>
      <p:sp>
        <p:nvSpPr>
          <p:cNvPr id="2" name="LexFlow 2"/>
          <p:cNvSpPr txBox="1"/>
          <p:nvPr/>
        </p:nvSpPr>
        <p:spPr>
          <a:xfrm>
            <a:off x="530352" y="4572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10 / DESTINATION EXTENSION</a:t>
            </a:r>
            <a:endParaRPr lang="en-GB" sz="1200"/>
          </a:p>
        </p:txBody>
      </p:sp>
      <p:sp>
        <p:nvSpPr>
          <p:cNvPr id="3" name="LexFlow 3"/>
          <p:cNvSpPr txBox="1"/>
          <p:nvPr/>
        </p:nvSpPr>
        <p:spPr>
          <a:xfrm>
            <a:off x="530352" y="1051560"/>
            <a:ext cx="111099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3600" b="1">
                <a:solidFill>
                  <a:srgbClr val="142D2C"/>
                </a:solidFill>
                <a:latin typeface="Arial"/>
              </a:rPr>
              <a:t>Prepare the ProNotar32 connection</a:t>
            </a:r>
            <a:endParaRPr lang="en-GB" sz="3600"/>
          </a:p>
        </p:txBody>
      </p:sp>
      <p:sp>
        <p:nvSpPr>
          <p:cNvPr id="4" name="LexFlow 4"/>
          <p:cNvSpPr txBox="1"/>
          <p:nvPr/>
        </p:nvSpPr>
        <p:spPr>
          <a:xfrm>
            <a:off x="548640" y="233172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900" b="0">
                <a:solidFill>
                  <a:srgbClr val="5D6A67"/>
                </a:solidFill>
                <a:latin typeface="Arial"/>
              </a:rPr>
              <a:t>The case and mapping foundation is implemented; vendor import still needs validation.</a:t>
            </a:r>
            <a:endParaRPr lang="en-GB" sz="1900"/>
          </a:p>
        </p:txBody>
      </p:sp>
      <p:sp>
        <p:nvSpPr>
          <p:cNvPr id="5" name="LexFlow 5"/>
          <p:cNvSpPr txBox="1"/>
          <p:nvPr/>
        </p:nvSpPr>
        <p:spPr>
          <a:xfrm>
            <a:off x="54864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6" name="LexFlow 6"/>
          <p:cNvSpPr txBox="1"/>
          <p:nvPr/>
        </p:nvSpPr>
        <p:spPr>
          <a:xfrm>
            <a:off x="76809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Implemented foundation</a:t>
            </a:r>
            <a:endParaRPr lang="en-GB" sz="2000"/>
          </a:p>
        </p:txBody>
      </p:sp>
      <p:sp>
        <p:nvSpPr>
          <p:cNvPr id="7" name="LexFlow 7"/>
          <p:cNvSpPr txBox="1"/>
          <p:nvPr/>
        </p:nvSpPr>
        <p:spPr>
          <a:xfrm>
            <a:off x="76809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Encrypted additional parties and properties, office references, immutable mapping revisions and a canonical JSON adapter. Approval freezes the complete case and mapping; an API serves approved case data.</a:t>
            </a:r>
            <a:endParaRPr lang="en-GB" sz="1700"/>
          </a:p>
        </p:txBody>
      </p:sp>
      <p:sp>
        <p:nvSpPr>
          <p:cNvPr id="8" name="LexFlow 8"/>
          <p:cNvSpPr txBox="1"/>
          <p:nvPr/>
        </p:nvSpPr>
        <p:spPr>
          <a:xfrm>
            <a:off x="6172200" y="3246120"/>
            <a:ext cx="54406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9" name="LexFlow 9"/>
          <p:cNvSpPr txBox="1"/>
          <p:nvPr/>
        </p:nvSpPr>
        <p:spPr>
          <a:xfrm>
            <a:off x="639165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1E5250"/>
                </a:solidFill>
                <a:latin typeface="Arial"/>
              </a:rPr>
              <a:t>Next: validate ProNotar32</a:t>
            </a:r>
            <a:endParaRPr lang="en-GB" sz="2000"/>
          </a:p>
        </p:txBody>
      </p:sp>
      <p:sp>
        <p:nvSpPr>
          <p:cNvPr id="10" name="LexFlow 10"/>
          <p:cNvSpPr txBox="1"/>
          <p:nvPr/>
        </p:nvSpPr>
        <p:spPr>
          <a:xfrm>
            <a:off x="639165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142D2C"/>
                </a:solidFill>
                <a:latin typeface="Arial"/>
              </a:rPr>
              <a:t>Obtain the office's version, import schema, accepted sample files and test environment. Implement and verify the vendor adapter. ProNotar delivery is blocked; native plugins, scoped credentials and queued sends remain planned.</a:t>
            </a:r>
            <a:endParaRPr lang="en-GB" sz="1700"/>
          </a:p>
        </p:txBody>
      </p:sp>
      <p:sp>
        <p:nvSpPr>
          <p:cNvPr id="11" name="LexFlow 11"/>
          <p:cNvSpPr txBox="1"/>
          <p:nvPr/>
        </p:nvSpPr>
        <p:spPr>
          <a:xfrm>
            <a:off x="548640" y="641908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900" b="0">
                <a:solidFill>
                  <a:srgbClr val="5D6A67"/>
                </a:solidFill>
                <a:latin typeface="Arial"/>
              </a:rPr>
              <a:t>ALLGIFT TECHNOLOGIES LTD  /  SYNTHETIC PRESENTATION DEMO  /  30 OCTOBER 2026</a:t>
            </a:r>
            <a:endParaRPr lang="en-GB" sz="900"/>
          </a:p>
        </p:txBody>
      </p:sp>
      <p:sp>
        <p:nvSpPr>
          <p:cNvPr id="12" name="LexFlow 12"/>
          <p:cNvSpPr txBox="1"/>
          <p:nvPr/>
        </p:nvSpPr>
        <p:spPr>
          <a:xfrm>
            <a:off x="1110996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1E5250"/>
                </a:solidFill>
                <a:latin typeface="Arial"/>
              </a:rPr>
              <a:t>11</a:t>
            </a:r>
            <a:endParaRPr lang="en-GB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142D2C"/>
        </a:solidFill>
      </p:bgPr>
    </p:bg>
    <p:spTree>
      <p:nvGrpSpPr>
        <p:cNvPr id="1" name=""/>
        <p:cNvGrpSpPr/>
        <p:nvPr/>
      </p:nvGrpSpPr>
      <p:grpSpPr/>
      <p:sp>
        <p:nvSpPr>
          <p:cNvPr id="2" name="LexFlow 2"/>
          <p:cNvSpPr txBox="1"/>
          <p:nvPr/>
        </p:nvSpPr>
        <p:spPr>
          <a:xfrm>
            <a:off x="530352" y="4572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F4E4A1"/>
                </a:solidFill>
                <a:latin typeface="Arial"/>
              </a:rPr>
              <a:t>LEXFLOW AI / THE NEXT STEP</a:t>
            </a:r>
            <a:endParaRPr lang="en-GB" sz="1200"/>
          </a:p>
        </p:txBody>
      </p:sp>
      <p:sp>
        <p:nvSpPr>
          <p:cNvPr id="3" name="LexFlow 3"/>
          <p:cNvSpPr txBox="1"/>
          <p:nvPr/>
        </p:nvSpPr>
        <p:spPr>
          <a:xfrm>
            <a:off x="530352" y="1051560"/>
            <a:ext cx="111099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3600" b="1">
                <a:solidFill>
                  <a:srgbClr val="FFFFFF"/>
                </a:solidFill>
                <a:latin typeface="Arial"/>
              </a:rPr>
              <a:t>Select one destination. Validate one workflow.</a:t>
            </a:r>
            <a:endParaRPr lang="en-GB" sz="3600"/>
          </a:p>
        </p:txBody>
      </p:sp>
      <p:sp>
        <p:nvSpPr>
          <p:cNvPr id="4" name="LexFlow 4"/>
          <p:cNvSpPr txBox="1"/>
          <p:nvPr/>
        </p:nvSpPr>
        <p:spPr>
          <a:xfrm>
            <a:off x="548640" y="233172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900" b="0">
                <a:solidFill>
                  <a:srgbClr val="C3D3D0"/>
                </a:solidFill>
                <a:latin typeface="Arial"/>
              </a:rPr>
              <a:t>A controlled, demonstrable foundation for the first office pilot.</a:t>
            </a:r>
            <a:endParaRPr lang="en-GB" sz="1900"/>
          </a:p>
        </p:txBody>
      </p:sp>
      <p:sp>
        <p:nvSpPr>
          <p:cNvPr id="5" name="LexFlow 5"/>
          <p:cNvSpPr txBox="1"/>
          <p:nvPr/>
        </p:nvSpPr>
        <p:spPr>
          <a:xfrm>
            <a:off x="548640" y="3246120"/>
            <a:ext cx="5440680" cy="2468880"/>
          </a:xfrm>
          <a:prstGeom prst="rect">
            <a:avLst/>
          </a:prstGeom>
          <a:solidFill>
            <a:srgbClr val="1E5250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6" name="LexFlow 6"/>
          <p:cNvSpPr txBox="1"/>
          <p:nvPr/>
        </p:nvSpPr>
        <p:spPr>
          <a:xfrm>
            <a:off x="76809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F4E4A1"/>
                </a:solidFill>
                <a:latin typeface="Arial"/>
              </a:rPr>
              <a:t>What you can present today</a:t>
            </a:r>
            <a:endParaRPr lang="en-GB" sz="2000"/>
          </a:p>
        </p:txBody>
      </p:sp>
      <p:sp>
        <p:nvSpPr>
          <p:cNvPr id="7" name="LexFlow 7"/>
          <p:cNvSpPr txBox="1"/>
          <p:nvPr/>
        </p:nvSpPr>
        <p:spPr>
          <a:xfrm>
            <a:off x="76809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FFFFFF"/>
                </a:solidFill>
                <a:latin typeface="Arial"/>
              </a:rPr>
              <a:t>Reviewed case details, frozen mappings, canonical exports and signed HTTP handoff. All 152 tests passed on PostgreSQL 17; the new case-details workflow passed desktop/mobile browser checks. Vendor acceptance remains separate.</a:t>
            </a:r>
            <a:endParaRPr lang="en-GB" sz="1700"/>
          </a:p>
        </p:txBody>
      </p:sp>
      <p:sp>
        <p:nvSpPr>
          <p:cNvPr id="8" name="LexFlow 8"/>
          <p:cNvSpPr txBox="1"/>
          <p:nvPr/>
        </p:nvSpPr>
        <p:spPr>
          <a:xfrm>
            <a:off x="6172200" y="3246120"/>
            <a:ext cx="5440680" cy="2468880"/>
          </a:xfrm>
          <a:prstGeom prst="rect">
            <a:avLst/>
          </a:prstGeom>
          <a:solidFill>
            <a:srgbClr val="1E5250"/>
          </a:solidFill>
          <a:ln>
            <a:noFill/>
          </a:ln>
        </p:spPr>
        <p:txBody>
          <a:bodyPr wrap="square" anchor="t" lIns="0" rIns="0" tIns="0" bIns="0"/>
          <a:lstStyle/>
          <a:p>
            <a:r>
              <a:rPr lang="en-GB" sz="1800" b="0">
                <a:solidFill>
                  <a:srgbClr val="142D2C"/>
                </a:solidFill>
                <a:latin typeface="Arial"/>
              </a:rPr>
              <a:t/>
            </a:r>
            <a:endParaRPr lang="en-GB" sz="1800"/>
          </a:p>
        </p:txBody>
      </p:sp>
      <p:sp>
        <p:nvSpPr>
          <p:cNvPr id="9" name="LexFlow 9"/>
          <p:cNvSpPr txBox="1"/>
          <p:nvPr/>
        </p:nvSpPr>
        <p:spPr>
          <a:xfrm>
            <a:off x="6391656" y="3493008"/>
            <a:ext cx="49651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2000" b="1">
                <a:solidFill>
                  <a:srgbClr val="F4E4A1"/>
                </a:solidFill>
                <a:latin typeface="Arial"/>
              </a:rPr>
              <a:t>What the client supplies next</a:t>
            </a:r>
            <a:endParaRPr lang="en-GB" sz="2000"/>
          </a:p>
        </p:txBody>
      </p:sp>
      <p:sp>
        <p:nvSpPr>
          <p:cNvPr id="10" name="LexFlow 10"/>
          <p:cNvSpPr txBox="1"/>
          <p:nvPr/>
        </p:nvSpPr>
        <p:spPr>
          <a:xfrm>
            <a:off x="6391656" y="4023360"/>
            <a:ext cx="4965192" cy="14996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700" b="0">
                <a:solidFill>
                  <a:srgbClr val="FFFFFF"/>
                </a:solidFill>
                <a:latin typeface="Arial"/>
              </a:rPr>
              <a:t>A supported destination interface and test environment, sanitized examples, an accepted deployment boundary and agreed success criteria.</a:t>
            </a:r>
            <a:endParaRPr lang="en-GB" sz="1700"/>
          </a:p>
        </p:txBody>
      </p:sp>
      <p:sp>
        <p:nvSpPr>
          <p:cNvPr id="11" name="LexFlow 11"/>
          <p:cNvSpPr txBox="1"/>
          <p:nvPr/>
        </p:nvSpPr>
        <p:spPr>
          <a:xfrm>
            <a:off x="548640" y="641908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900" b="0">
                <a:solidFill>
                  <a:srgbClr val="C3D3D0"/>
                </a:solidFill>
                <a:latin typeface="Arial"/>
              </a:rPr>
              <a:t>ALLGIFT TECHNOLOGIES LTD  /  SYNTHETIC PRESENTATION DEMO  /  30 OCTOBER 2026</a:t>
            </a:r>
            <a:endParaRPr lang="en-GB" sz="900"/>
          </a:p>
        </p:txBody>
      </p:sp>
      <p:sp>
        <p:nvSpPr>
          <p:cNvPr id="12" name="LexFlow 12"/>
          <p:cNvSpPr txBox="1"/>
          <p:nvPr/>
        </p:nvSpPr>
        <p:spPr>
          <a:xfrm>
            <a:off x="11109960" y="64008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rPr lang="en-GB" sz="1200" b="1">
                <a:solidFill>
                  <a:srgbClr val="F4E4A1"/>
                </a:solidFill>
                <a:latin typeface="Arial"/>
              </a:rPr>
              <a:t>12</a:t>
            </a:r>
            <a:endParaRPr lang="en-GB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